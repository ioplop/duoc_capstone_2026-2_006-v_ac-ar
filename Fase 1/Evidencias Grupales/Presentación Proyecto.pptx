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29.png" ContentType="image/png"/>
  <Override PartName="/ppt/media/image28.gif" ContentType="image/gif"/>
  <Override PartName="/ppt/media/image27.gif" ContentType="image/gif"/>
  <Override PartName="/ppt/media/image24.png" ContentType="image/png"/>
  <Override PartName="/ppt/media/image26.png" ContentType="image/png"/>
  <Override PartName="/ppt/media/image23.gif" ContentType="image/gif"/>
  <Override PartName="/ppt/media/image8.svg" ContentType="image/svg"/>
  <Override PartName="/ppt/media/image25.png" ContentType="image/png"/>
  <Override PartName="/ppt/media/image12.svg" ContentType="image/svg"/>
  <Override PartName="/ppt/media/image22.gif" ContentType="image/gif"/>
  <Override PartName="/ppt/media/image39.svg" ContentType="image/svg"/>
  <Override PartName="/ppt/media/image18.svg" ContentType="image/svg"/>
  <Override PartName="/ppt/media/image17.png" ContentType="image/png"/>
  <Override PartName="/ppt/media/image21.png" ContentType="image/png"/>
  <Override PartName="/ppt/media/image19.png" ContentType="image/png"/>
  <Override PartName="/ppt/media/image16.gif" ContentType="image/gif"/>
  <Override PartName="/ppt/media/image32.png" ContentType="image/png"/>
  <Override PartName="/ppt/media/image43.svg" ContentType="image/svg"/>
  <Override PartName="/ppt/media/image33.svg" ContentType="image/svg"/>
  <Override PartName="/ppt/media/image36.png" ContentType="image/png"/>
  <Override PartName="/ppt/media/image40.png" ContentType="image/png"/>
  <Override PartName="/ppt/media/image14.svg" ContentType="image/svg"/>
  <Override PartName="/ppt/media/image38.png" ContentType="image/png"/>
  <Override PartName="/ppt/media/image45.gif" ContentType="image/gif"/>
  <Override PartName="/ppt/media/image41.png" ContentType="image/png"/>
  <Override PartName="/ppt/media/image6.svg" ContentType="image/svg"/>
  <Override PartName="/ppt/media/image30.png" ContentType="image/png"/>
  <Override PartName="/ppt/media/image42.png" ContentType="image/png"/>
  <Override PartName="/ppt/media/image44.png" ContentType="image/png"/>
  <Override PartName="/ppt/media/image31.svg" ContentType="image/svg"/>
  <Override PartName="/ppt/media/image9.png" ContentType="image/png"/>
  <Override PartName="/ppt/media/image15.gif" ContentType="image/gif"/>
  <Override PartName="/ppt/media/image20.png" ContentType="image/png"/>
  <Override PartName="/ppt/media/image34.png" ContentType="image/png"/>
  <Override PartName="/ppt/media/image10.svg" ContentType="image/svg"/>
  <Override PartName="/ppt/media/image13.png" ContentType="image/png"/>
  <Override PartName="/ppt/media/image37.svg" ContentType="image/svg"/>
  <Override PartName="/ppt/media/image35.svg" ContentType="image/svg"/>
  <Override PartName="/ppt/media/image11.png" ContentType="image/png"/>
  <Override PartName="/ppt/media/image7.png" ContentType="image/png"/>
  <Override PartName="/ppt/media/image4.svg" ContentType="image/svg"/>
  <Override PartName="/ppt/media/image3.png" ContentType="image/png"/>
  <Override PartName="/ppt/media/image5.png" ContentType="image/png"/>
  <Override PartName="/ppt/media/image2.svg" ContentType="image/svg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</p:sldIdLst>
  <p:sldSz cx="18288000" cy="10287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s-CL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7557BBC-9D54-4737-B2B4-BBAA647FDF9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CL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E946183-2673-4338-9013-D6385652069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s-CL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D6F6976-FE06-498A-B79E-5A8013597D7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s-CL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4C60ECE-EB6F-4439-9B11-8AD78CD1E4D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s-CL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F3246D1-A599-4837-8114-ADC5BDE79F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s-CL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016CC840-F64F-4754-9204-AA8914587DA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s-CL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E5818D90-547C-4600-A064-2D9C664427B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s-CL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8A58323E-2074-46BA-B26A-6E471A929DE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s-CL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46DFDFF-B373-455E-895B-3110E3075A6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s-CL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6AFBBF4E-6437-4DB3-87B5-2A215FD7621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s-CL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27C63AED-9635-4BE7-AE5C-7B15B4248D8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s-CL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&lt;fecha/hora&gt;</a:t>
            </a:r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CL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CL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CL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1057CA-980A-4B9D-B304-767D42A0EAA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&lt;fecha/hora&gt;</a:t>
            </a:r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CL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CL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CL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79F6BB-CC17-4891-AC21-CC83072D7F7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&lt;fecha/hora&gt;</a:t>
            </a:r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CL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CL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CL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A6E321-D622-419A-A6B6-E92B4A8C104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&lt;fecha/hora&gt;</a:t>
            </a:r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CL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CL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CL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6EBEA-4343-4E5B-81CD-27211C733DB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&lt;fecha/hora&gt;</a:t>
            </a:r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CL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CL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CL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F4A6DE-D4E0-49A5-86AC-9911ACFEE7E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&lt;fecha/hora&gt;</a:t>
            </a:r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CL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CL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CL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A098F6-7FF0-4DED-BBB6-8F6FDAAB481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&lt;fecha/hora&gt;</a:t>
            </a:r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CL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CL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CL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68139A-79FA-49D9-9183-6EEF02E1E52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&lt;fecha/hora&gt;</a:t>
            </a:r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CL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CL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CL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BD2935-FCC1-497A-82BF-0122201433E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&lt;fecha/hora&gt;</a:t>
            </a:r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CL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CL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CL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9CE4E9-7AEA-44D5-BE82-A67B57FF2A0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Pulse para editar el formato del texto de título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Pulse para editar el formato de texto del esquema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Segundo nivel del esquema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Tercer nivel del esquema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Cuarto nivel del esquema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Quinto nivel del esquema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Sexto nivel del esquema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Séptimo nivel del esquema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&lt;fecha/hora&gt;</a:t>
            </a:r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CL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CL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CL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24D375-F814-4184-BA37-9FA3EEDED48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Pulse para editar el formato de texto del esquema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Segundo nivel del esquema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Tercer nivel del esquema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Cuarto nivel del esquema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Quinto nivel del esquema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Sexto nivel del esquema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Séptimo nivel del esquema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&lt;fecha/hora&gt;</a:t>
            </a:r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s-CL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s-CL" sz="1400" spc="-1" strike="noStrike">
                <a:solidFill>
                  <a:srgbClr val="000000"/>
                </a:solidFill>
                <a:latin typeface="Times New Roman"/>
              </a:rPr>
              <a:t>&lt;pie de página&gt;</a:t>
            </a:r>
            <a:endParaRPr b="0" lang="es-CL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E80A62-8964-4E04-9D81-F7FD701B289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es-CL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image" Target="../media/image5.png"/><Relationship Id="rId10" Type="http://schemas.openxmlformats.org/officeDocument/2006/relationships/image" Target="../media/image6.svg"/><Relationship Id="rId11" Type="http://schemas.openxmlformats.org/officeDocument/2006/relationships/image" Target="../media/image5.png"/><Relationship Id="rId12" Type="http://schemas.openxmlformats.org/officeDocument/2006/relationships/image" Target="../media/image6.svg"/><Relationship Id="rId13" Type="http://schemas.openxmlformats.org/officeDocument/2006/relationships/image" Target="../media/image7.png"/><Relationship Id="rId14" Type="http://schemas.openxmlformats.org/officeDocument/2006/relationships/image" Target="../media/image8.svg"/><Relationship Id="rId15" Type="http://schemas.openxmlformats.org/officeDocument/2006/relationships/image" Target="../media/image9.png"/><Relationship Id="rId16" Type="http://schemas.openxmlformats.org/officeDocument/2006/relationships/image" Target="../media/image10.svg"/><Relationship Id="rId17" Type="http://schemas.openxmlformats.org/officeDocument/2006/relationships/image" Target="../media/image11.png"/><Relationship Id="rId18" Type="http://schemas.openxmlformats.org/officeDocument/2006/relationships/image" Target="../media/image12.svg"/><Relationship Id="rId19" Type="http://schemas.openxmlformats.org/officeDocument/2006/relationships/image" Target="../media/image13.png"/><Relationship Id="rId20" Type="http://schemas.openxmlformats.org/officeDocument/2006/relationships/image" Target="../media/image14.svg"/><Relationship Id="rId21" Type="http://schemas.openxmlformats.org/officeDocument/2006/relationships/image" Target="../media/image13.png"/><Relationship Id="rId22" Type="http://schemas.openxmlformats.org/officeDocument/2006/relationships/image" Target="../media/image14.svg"/><Relationship Id="rId23" Type="http://schemas.openxmlformats.org/officeDocument/2006/relationships/image" Target="../media/image13.png"/><Relationship Id="rId24" Type="http://schemas.openxmlformats.org/officeDocument/2006/relationships/image" Target="../media/image14.svg"/><Relationship Id="rId25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5.gif"/><Relationship Id="rId6" Type="http://schemas.openxmlformats.org/officeDocument/2006/relationships/image" Target="../media/image16.gif"/><Relationship Id="rId7" Type="http://schemas.openxmlformats.org/officeDocument/2006/relationships/image" Target="../media/image16.gif"/><Relationship Id="rId8" Type="http://schemas.openxmlformats.org/officeDocument/2006/relationships/image" Target="../media/image16.gif"/><Relationship Id="rId9" Type="http://schemas.openxmlformats.org/officeDocument/2006/relationships/image" Target="../media/image17.png"/><Relationship Id="rId10" Type="http://schemas.openxmlformats.org/officeDocument/2006/relationships/image" Target="../media/image18.svg"/><Relationship Id="rId11" Type="http://schemas.openxmlformats.org/officeDocument/2006/relationships/image" Target="../media/image13.png"/><Relationship Id="rId12" Type="http://schemas.openxmlformats.org/officeDocument/2006/relationships/image" Target="../media/image14.svg"/><Relationship Id="rId13" Type="http://schemas.openxmlformats.org/officeDocument/2006/relationships/image" Target="../media/image13.png"/><Relationship Id="rId14" Type="http://schemas.openxmlformats.org/officeDocument/2006/relationships/image" Target="../media/image14.svg"/><Relationship Id="rId15" Type="http://schemas.openxmlformats.org/officeDocument/2006/relationships/image" Target="../media/image13.png"/><Relationship Id="rId16" Type="http://schemas.openxmlformats.org/officeDocument/2006/relationships/image" Target="../media/image14.svg"/><Relationship Id="rId17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16.gif"/><Relationship Id="rId3" Type="http://schemas.openxmlformats.org/officeDocument/2006/relationships/image" Target="../media/image22.gif"/><Relationship Id="rId4" Type="http://schemas.openxmlformats.org/officeDocument/2006/relationships/image" Target="../media/image23.gif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7.gif"/><Relationship Id="rId2" Type="http://schemas.openxmlformats.org/officeDocument/2006/relationships/image" Target="../media/image28.gif"/><Relationship Id="rId3" Type="http://schemas.openxmlformats.org/officeDocument/2006/relationships/image" Target="../media/image29.pn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3.png"/><Relationship Id="rId7" Type="http://schemas.openxmlformats.org/officeDocument/2006/relationships/image" Target="../media/image14.svg"/><Relationship Id="rId8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svg"/><Relationship Id="rId3" Type="http://schemas.openxmlformats.org/officeDocument/2006/relationships/image" Target="../media/image32.png"/><Relationship Id="rId4" Type="http://schemas.openxmlformats.org/officeDocument/2006/relationships/image" Target="../media/image33.svg"/><Relationship Id="rId5" Type="http://schemas.openxmlformats.org/officeDocument/2006/relationships/image" Target="../media/image34.png"/><Relationship Id="rId6" Type="http://schemas.openxmlformats.org/officeDocument/2006/relationships/image" Target="../media/image35.svg"/><Relationship Id="rId7" Type="http://schemas.openxmlformats.org/officeDocument/2006/relationships/image" Target="../media/image36.png"/><Relationship Id="rId8" Type="http://schemas.openxmlformats.org/officeDocument/2006/relationships/image" Target="../media/image37.svg"/><Relationship Id="rId9" Type="http://schemas.openxmlformats.org/officeDocument/2006/relationships/image" Target="../media/image17.png"/><Relationship Id="rId10" Type="http://schemas.openxmlformats.org/officeDocument/2006/relationships/image" Target="../media/image18.svg"/><Relationship Id="rId11" Type="http://schemas.openxmlformats.org/officeDocument/2006/relationships/image" Target="../media/image26.png"/><Relationship Id="rId1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svg"/><Relationship Id="rId3" Type="http://schemas.openxmlformats.org/officeDocument/2006/relationships/image" Target="../media/image38.png"/><Relationship Id="rId4" Type="http://schemas.openxmlformats.org/officeDocument/2006/relationships/image" Target="../media/image39.svg"/><Relationship Id="rId5" Type="http://schemas.openxmlformats.org/officeDocument/2006/relationships/image" Target="../media/image2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7.gif"/><Relationship Id="rId2" Type="http://schemas.openxmlformats.org/officeDocument/2006/relationships/image" Target="../media/image28.gif"/><Relationship Id="rId3" Type="http://schemas.openxmlformats.org/officeDocument/2006/relationships/image" Target="../media/image29.pn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3.png"/><Relationship Id="rId7" Type="http://schemas.openxmlformats.org/officeDocument/2006/relationships/image" Target="../media/image14.svg"/><Relationship Id="rId8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42.png"/><Relationship Id="rId3" Type="http://schemas.openxmlformats.org/officeDocument/2006/relationships/image" Target="../media/image43.svg"/><Relationship Id="rId4" Type="http://schemas.openxmlformats.org/officeDocument/2006/relationships/image" Target="../media/image42.png"/><Relationship Id="rId5" Type="http://schemas.openxmlformats.org/officeDocument/2006/relationships/image" Target="../media/image43.svg"/><Relationship Id="rId6" Type="http://schemas.openxmlformats.org/officeDocument/2006/relationships/image" Target="../media/image13.png"/><Relationship Id="rId7" Type="http://schemas.openxmlformats.org/officeDocument/2006/relationships/image" Target="../media/image14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13.png"/><Relationship Id="rId11" Type="http://schemas.openxmlformats.org/officeDocument/2006/relationships/image" Target="../media/image14.svg"/><Relationship Id="rId12" Type="http://schemas.openxmlformats.org/officeDocument/2006/relationships/image" Target="../media/image44.png"/><Relationship Id="rId13" Type="http://schemas.openxmlformats.org/officeDocument/2006/relationships/image" Target="../media/image44.png"/><Relationship Id="rId14" Type="http://schemas.openxmlformats.org/officeDocument/2006/relationships/image" Target="../media/image44.png"/><Relationship Id="rId15" Type="http://schemas.openxmlformats.org/officeDocument/2006/relationships/image" Target="../media/image24.png"/><Relationship Id="rId16" Type="http://schemas.openxmlformats.org/officeDocument/2006/relationships/image" Target="../media/image25.png"/><Relationship Id="rId17" Type="http://schemas.openxmlformats.org/officeDocument/2006/relationships/image" Target="../media/image20.png"/><Relationship Id="rId18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5.gif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7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Freeform 2"/>
          <p:cNvSpPr/>
          <p:nvPr/>
        </p:nvSpPr>
        <p:spPr>
          <a:xfrm>
            <a:off x="1028880" y="3066480"/>
            <a:ext cx="1571400" cy="802800"/>
          </a:xfrm>
          <a:custGeom>
            <a:avLst/>
            <a:gdLst>
              <a:gd name="textAreaLeft" fmla="*/ 0 w 1571400"/>
              <a:gd name="textAreaRight" fmla="*/ 1571760 w 1571400"/>
              <a:gd name="textAreaTop" fmla="*/ 0 h 802800"/>
              <a:gd name="textAreaBottom" fmla="*/ 803160 h 802800"/>
            </a:gdLst>
            <a:ahLst/>
            <a:rect l="textAreaLeft" t="textAreaTop" r="textAreaRight" b="textAreaBottom"/>
            <a:pathLst>
              <a:path w="1571900" h="803098">
                <a:moveTo>
                  <a:pt x="0" y="0"/>
                </a:moveTo>
                <a:lnTo>
                  <a:pt x="1571900" y="0"/>
                </a:lnTo>
                <a:lnTo>
                  <a:pt x="1571900" y="803098"/>
                </a:lnTo>
                <a:lnTo>
                  <a:pt x="0" y="80309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Freeform 3"/>
          <p:cNvSpPr/>
          <p:nvPr/>
        </p:nvSpPr>
        <p:spPr>
          <a:xfrm>
            <a:off x="15912000" y="1046160"/>
            <a:ext cx="1571400" cy="802800"/>
          </a:xfrm>
          <a:custGeom>
            <a:avLst/>
            <a:gdLst>
              <a:gd name="textAreaLeft" fmla="*/ 0 w 1571400"/>
              <a:gd name="textAreaRight" fmla="*/ 1571760 w 1571400"/>
              <a:gd name="textAreaTop" fmla="*/ 0 h 802800"/>
              <a:gd name="textAreaBottom" fmla="*/ 803160 h 802800"/>
            </a:gdLst>
            <a:ahLst/>
            <a:rect l="textAreaLeft" t="textAreaTop" r="textAreaRight" b="textAreaBottom"/>
            <a:pathLst>
              <a:path w="1571900" h="803098">
                <a:moveTo>
                  <a:pt x="0" y="0"/>
                </a:moveTo>
                <a:lnTo>
                  <a:pt x="1571900" y="0"/>
                </a:lnTo>
                <a:lnTo>
                  <a:pt x="1571900" y="803098"/>
                </a:lnTo>
                <a:lnTo>
                  <a:pt x="0" y="80309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Freeform 4"/>
          <p:cNvSpPr/>
          <p:nvPr/>
        </p:nvSpPr>
        <p:spPr>
          <a:xfrm>
            <a:off x="7404840" y="1816560"/>
            <a:ext cx="690840" cy="612720"/>
          </a:xfrm>
          <a:custGeom>
            <a:avLst/>
            <a:gdLst>
              <a:gd name="textAreaLeft" fmla="*/ 0 w 690840"/>
              <a:gd name="textAreaRight" fmla="*/ 691200 w 690840"/>
              <a:gd name="textAreaTop" fmla="*/ 0 h 612720"/>
              <a:gd name="textAreaBottom" fmla="*/ 613080 h 612720"/>
            </a:gdLst>
            <a:ahLst/>
            <a:rect l="textAreaLeft" t="textAreaTop" r="textAreaRight" b="textAreaBottom"/>
            <a:pathLst>
              <a:path w="691127" h="613218">
                <a:moveTo>
                  <a:pt x="0" y="0"/>
                </a:moveTo>
                <a:lnTo>
                  <a:pt x="691127" y="0"/>
                </a:lnTo>
                <a:lnTo>
                  <a:pt x="691127" y="613219"/>
                </a:lnTo>
                <a:lnTo>
                  <a:pt x="0" y="61321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Freeform 5"/>
          <p:cNvSpPr/>
          <p:nvPr/>
        </p:nvSpPr>
        <p:spPr>
          <a:xfrm>
            <a:off x="8332200" y="1798200"/>
            <a:ext cx="690840" cy="612720"/>
          </a:xfrm>
          <a:custGeom>
            <a:avLst/>
            <a:gdLst>
              <a:gd name="textAreaLeft" fmla="*/ 0 w 690840"/>
              <a:gd name="textAreaRight" fmla="*/ 691200 w 690840"/>
              <a:gd name="textAreaTop" fmla="*/ 0 h 612720"/>
              <a:gd name="textAreaBottom" fmla="*/ 613080 h 612720"/>
            </a:gdLst>
            <a:ahLst/>
            <a:rect l="textAreaLeft" t="textAreaTop" r="textAreaRight" b="textAreaBottom"/>
            <a:pathLst>
              <a:path w="691127" h="613218">
                <a:moveTo>
                  <a:pt x="0" y="0"/>
                </a:moveTo>
                <a:lnTo>
                  <a:pt x="691128" y="0"/>
                </a:lnTo>
                <a:lnTo>
                  <a:pt x="691128" y="613219"/>
                </a:lnTo>
                <a:lnTo>
                  <a:pt x="0" y="61321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Freeform 6"/>
          <p:cNvSpPr/>
          <p:nvPr/>
        </p:nvSpPr>
        <p:spPr>
          <a:xfrm>
            <a:off x="9262080" y="1798200"/>
            <a:ext cx="690840" cy="612720"/>
          </a:xfrm>
          <a:custGeom>
            <a:avLst/>
            <a:gdLst>
              <a:gd name="textAreaLeft" fmla="*/ 0 w 690840"/>
              <a:gd name="textAreaRight" fmla="*/ 691200 w 690840"/>
              <a:gd name="textAreaTop" fmla="*/ 0 h 612720"/>
              <a:gd name="textAreaBottom" fmla="*/ 613080 h 612720"/>
            </a:gdLst>
            <a:ahLst/>
            <a:rect l="textAreaLeft" t="textAreaTop" r="textAreaRight" b="textAreaBottom"/>
            <a:pathLst>
              <a:path w="691127" h="613218">
                <a:moveTo>
                  <a:pt x="0" y="0"/>
                </a:moveTo>
                <a:lnTo>
                  <a:pt x="691128" y="0"/>
                </a:lnTo>
                <a:lnTo>
                  <a:pt x="691128" y="613219"/>
                </a:lnTo>
                <a:lnTo>
                  <a:pt x="0" y="61321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Freeform 7"/>
          <p:cNvSpPr/>
          <p:nvPr/>
        </p:nvSpPr>
        <p:spPr>
          <a:xfrm>
            <a:off x="10191960" y="1798200"/>
            <a:ext cx="690840" cy="612720"/>
          </a:xfrm>
          <a:custGeom>
            <a:avLst/>
            <a:gdLst>
              <a:gd name="textAreaLeft" fmla="*/ 0 w 690840"/>
              <a:gd name="textAreaRight" fmla="*/ 691200 w 690840"/>
              <a:gd name="textAreaTop" fmla="*/ 0 h 612720"/>
              <a:gd name="textAreaBottom" fmla="*/ 613080 h 612720"/>
            </a:gdLst>
            <a:ahLst/>
            <a:rect l="textAreaLeft" t="textAreaTop" r="textAreaRight" b="textAreaBottom"/>
            <a:pathLst>
              <a:path w="691127" h="613218">
                <a:moveTo>
                  <a:pt x="0" y="0"/>
                </a:moveTo>
                <a:lnTo>
                  <a:pt x="691127" y="0"/>
                </a:lnTo>
                <a:lnTo>
                  <a:pt x="691127" y="613219"/>
                </a:lnTo>
                <a:lnTo>
                  <a:pt x="0" y="61321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Freeform 8"/>
          <p:cNvSpPr/>
          <p:nvPr/>
        </p:nvSpPr>
        <p:spPr>
          <a:xfrm>
            <a:off x="15321600" y="7311600"/>
            <a:ext cx="1559880" cy="1406880"/>
          </a:xfrm>
          <a:custGeom>
            <a:avLst/>
            <a:gdLst>
              <a:gd name="textAreaLeft" fmla="*/ 0 w 1559880"/>
              <a:gd name="textAreaRight" fmla="*/ 1560240 w 1559880"/>
              <a:gd name="textAreaTop" fmla="*/ 0 h 1406880"/>
              <a:gd name="textAreaBottom" fmla="*/ 1407240 h 1406880"/>
            </a:gdLst>
            <a:ahLst/>
            <a:rect l="textAreaLeft" t="textAreaTop" r="textAreaRight" b="textAreaBottom"/>
            <a:pathLst>
              <a:path w="1560258" h="1407069">
                <a:moveTo>
                  <a:pt x="0" y="0"/>
                </a:moveTo>
                <a:lnTo>
                  <a:pt x="1560258" y="0"/>
                </a:lnTo>
                <a:lnTo>
                  <a:pt x="1560258" y="1407069"/>
                </a:lnTo>
                <a:lnTo>
                  <a:pt x="0" y="140706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Freeform 9"/>
          <p:cNvSpPr/>
          <p:nvPr/>
        </p:nvSpPr>
        <p:spPr>
          <a:xfrm>
            <a:off x="8313480" y="6777000"/>
            <a:ext cx="1650240" cy="704880"/>
          </a:xfrm>
          <a:custGeom>
            <a:avLst/>
            <a:gdLst>
              <a:gd name="textAreaLeft" fmla="*/ 0 w 1650240"/>
              <a:gd name="textAreaRight" fmla="*/ 1650600 w 1650240"/>
              <a:gd name="textAreaTop" fmla="*/ 0 h 704880"/>
              <a:gd name="textAreaBottom" fmla="*/ 705240 h 704880"/>
            </a:gdLst>
            <a:ahLst/>
            <a:rect l="textAreaLeft" t="textAreaTop" r="textAreaRight" b="textAreaBottom"/>
            <a:pathLst>
              <a:path w="1650543" h="705232">
                <a:moveTo>
                  <a:pt x="0" y="0"/>
                </a:moveTo>
                <a:lnTo>
                  <a:pt x="1650543" y="0"/>
                </a:lnTo>
                <a:lnTo>
                  <a:pt x="1650543" y="705233"/>
                </a:lnTo>
                <a:lnTo>
                  <a:pt x="0" y="7052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Freeform 10"/>
          <p:cNvSpPr/>
          <p:nvPr/>
        </p:nvSpPr>
        <p:spPr>
          <a:xfrm>
            <a:off x="2767680" y="7311600"/>
            <a:ext cx="1528920" cy="1406880"/>
          </a:xfrm>
          <a:custGeom>
            <a:avLst/>
            <a:gdLst>
              <a:gd name="textAreaLeft" fmla="*/ 0 w 1528920"/>
              <a:gd name="textAreaRight" fmla="*/ 1529280 w 1528920"/>
              <a:gd name="textAreaTop" fmla="*/ 0 h 1406880"/>
              <a:gd name="textAreaBottom" fmla="*/ 1407240 h 1406880"/>
            </a:gdLst>
            <a:ahLst/>
            <a:rect l="textAreaLeft" t="textAreaTop" r="textAreaRight" b="textAreaBottom"/>
            <a:pathLst>
              <a:path w="1529423" h="1407069">
                <a:moveTo>
                  <a:pt x="0" y="0"/>
                </a:moveTo>
                <a:lnTo>
                  <a:pt x="1529424" y="0"/>
                </a:lnTo>
                <a:lnTo>
                  <a:pt x="1529424" y="1407069"/>
                </a:lnTo>
                <a:lnTo>
                  <a:pt x="0" y="140706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6" name="Group 11"/>
          <p:cNvGrpSpPr/>
          <p:nvPr/>
        </p:nvGrpSpPr>
        <p:grpSpPr>
          <a:xfrm>
            <a:off x="-140040" y="9100440"/>
            <a:ext cx="18724680" cy="1249920"/>
            <a:chOff x="-140040" y="9100440"/>
            <a:chExt cx="18724680" cy="1249920"/>
          </a:xfrm>
        </p:grpSpPr>
        <p:sp>
          <p:nvSpPr>
            <p:cNvPr id="77" name="Freeform 12"/>
            <p:cNvSpPr/>
            <p:nvPr/>
          </p:nvSpPr>
          <p:spPr>
            <a:xfrm>
              <a:off x="-140040" y="9100440"/>
              <a:ext cx="7314840" cy="1249920"/>
            </a:xfrm>
            <a:custGeom>
              <a:avLst/>
              <a:gdLst>
                <a:gd name="textAreaLeft" fmla="*/ 0 w 7314840"/>
                <a:gd name="textAreaRight" fmla="*/ 7315200 w 7314840"/>
                <a:gd name="textAreaTop" fmla="*/ 0 h 1249920"/>
                <a:gd name="textAreaBottom" fmla="*/ 1250280 h 1249920"/>
              </a:gdLst>
              <a:ahLst/>
              <a:rect l="textAreaLeft" t="textAreaTop" r="textAreaRight" b="textAreaBottom"/>
              <a:pathLst>
                <a:path w="9753600" h="1666979">
                  <a:moveTo>
                    <a:pt x="0" y="0"/>
                  </a:moveTo>
                  <a:lnTo>
                    <a:pt x="9753600" y="0"/>
                  </a:lnTo>
                  <a:lnTo>
                    <a:pt x="9753600" y="1666979"/>
                  </a:lnTo>
                  <a:lnTo>
                    <a:pt x="0" y="166697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Freeform 13"/>
            <p:cNvSpPr/>
            <p:nvPr/>
          </p:nvSpPr>
          <p:spPr>
            <a:xfrm>
              <a:off x="6534360" y="9100440"/>
              <a:ext cx="7314840" cy="1249920"/>
            </a:xfrm>
            <a:custGeom>
              <a:avLst/>
              <a:gdLst>
                <a:gd name="textAreaLeft" fmla="*/ 0 w 7314840"/>
                <a:gd name="textAreaRight" fmla="*/ 7315200 w 7314840"/>
                <a:gd name="textAreaTop" fmla="*/ 0 h 1249920"/>
                <a:gd name="textAreaBottom" fmla="*/ 1250280 h 1249920"/>
              </a:gdLst>
              <a:ahLst/>
              <a:rect l="textAreaLeft" t="textAreaTop" r="textAreaRight" b="textAreaBottom"/>
              <a:pathLst>
                <a:path w="9753600" h="1666979">
                  <a:moveTo>
                    <a:pt x="0" y="0"/>
                  </a:moveTo>
                  <a:lnTo>
                    <a:pt x="9753600" y="0"/>
                  </a:lnTo>
                  <a:lnTo>
                    <a:pt x="9753600" y="1666979"/>
                  </a:lnTo>
                  <a:lnTo>
                    <a:pt x="0" y="166697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9" name="Freeform 14"/>
            <p:cNvSpPr/>
            <p:nvPr/>
          </p:nvSpPr>
          <p:spPr>
            <a:xfrm>
              <a:off x="11269800" y="9100440"/>
              <a:ext cx="7314840" cy="1249920"/>
            </a:xfrm>
            <a:custGeom>
              <a:avLst/>
              <a:gdLst>
                <a:gd name="textAreaLeft" fmla="*/ 0 w 7314840"/>
                <a:gd name="textAreaRight" fmla="*/ 7315200 w 7314840"/>
                <a:gd name="textAreaTop" fmla="*/ 0 h 1249920"/>
                <a:gd name="textAreaBottom" fmla="*/ 1250280 h 1249920"/>
              </a:gdLst>
              <a:ahLst/>
              <a:rect l="textAreaLeft" t="textAreaTop" r="textAreaRight" b="textAreaBottom"/>
              <a:pathLst>
                <a:path w="9753600" h="1666979">
                  <a:moveTo>
                    <a:pt x="0" y="0"/>
                  </a:moveTo>
                  <a:lnTo>
                    <a:pt x="9753600" y="0"/>
                  </a:lnTo>
                  <a:lnTo>
                    <a:pt x="9753600" y="1666979"/>
                  </a:lnTo>
                  <a:lnTo>
                    <a:pt x="0" y="166697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80" name="TextBox 15"/>
          <p:cNvSpPr/>
          <p:nvPr/>
        </p:nvSpPr>
        <p:spPr>
          <a:xfrm>
            <a:off x="3517560" y="3056760"/>
            <a:ext cx="11252880" cy="10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7923"/>
              </a:lnSpc>
            </a:pPr>
            <a:r>
              <a:rPr b="0" i="1" lang="en-US" sz="7930" spc="1248" strike="noStrike">
                <a:solidFill>
                  <a:srgbClr val="ffffff"/>
                </a:solidFill>
                <a:latin typeface="Retropix"/>
                <a:ea typeface="Retropix"/>
              </a:rPr>
              <a:t>DIRECTIVA</a:t>
            </a:r>
            <a:endParaRPr b="0" lang="es-CL" sz="79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Box 16"/>
          <p:cNvSpPr/>
          <p:nvPr/>
        </p:nvSpPr>
        <p:spPr>
          <a:xfrm>
            <a:off x="5594040" y="4458240"/>
            <a:ext cx="7088760" cy="6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9"/>
              </a:lnSpc>
            </a:pPr>
            <a:r>
              <a:rPr b="0" lang="en-US" sz="1900" spc="-1" strike="noStrike">
                <a:solidFill>
                  <a:srgbClr val="ffde59"/>
                </a:solidFill>
                <a:latin typeface="Arcade Gamer"/>
                <a:ea typeface="Arcade Gamer"/>
              </a:rPr>
              <a:t>ÁNGEL ROJAS</a:t>
            </a:r>
            <a:endParaRPr b="0" lang="es-CL" sz="19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2659"/>
              </a:lnSpc>
            </a:pPr>
            <a:r>
              <a:rPr b="0" lang="en-US" sz="1900" spc="-1" strike="noStrike">
                <a:solidFill>
                  <a:srgbClr val="ffde59"/>
                </a:solidFill>
                <a:latin typeface="Arcade Gamer"/>
                <a:ea typeface="Arcade Gamer"/>
              </a:rPr>
              <a:t>ÁLVARO CASTRO</a:t>
            </a:r>
            <a:endParaRPr b="0" lang="es-CL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Box 17"/>
          <p:cNvSpPr/>
          <p:nvPr/>
        </p:nvSpPr>
        <p:spPr>
          <a:xfrm>
            <a:off x="5619960" y="5357880"/>
            <a:ext cx="70887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381"/>
              </a:lnSpc>
            </a:pPr>
            <a:r>
              <a:rPr b="0" lang="en-US" sz="1700" spc="-1" strike="noStrike">
                <a:solidFill>
                  <a:srgbClr val="ffde59">
                    <a:alpha val="74000"/>
                  </a:srgbClr>
                </a:solidFill>
                <a:latin typeface="Arcade Gamer"/>
                <a:ea typeface="Arcade Gamer"/>
              </a:rPr>
              <a:t>Ingeniería Informática, Capstone, 2026.</a:t>
            </a:r>
            <a:endParaRPr b="0" lang="es-CL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7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Freeform 2"/>
          <p:cNvSpPr/>
          <p:nvPr/>
        </p:nvSpPr>
        <p:spPr>
          <a:xfrm>
            <a:off x="15354360" y="1718640"/>
            <a:ext cx="1571400" cy="802800"/>
          </a:xfrm>
          <a:custGeom>
            <a:avLst/>
            <a:gdLst>
              <a:gd name="textAreaLeft" fmla="*/ 0 w 1571400"/>
              <a:gd name="textAreaRight" fmla="*/ 1571760 w 1571400"/>
              <a:gd name="textAreaTop" fmla="*/ 0 h 802800"/>
              <a:gd name="textAreaBottom" fmla="*/ 803160 h 802800"/>
            </a:gdLst>
            <a:ahLst/>
            <a:rect l="textAreaLeft" t="textAreaTop" r="textAreaRight" b="textAreaBottom"/>
            <a:pathLst>
              <a:path w="1571900" h="803098">
                <a:moveTo>
                  <a:pt x="0" y="0"/>
                </a:moveTo>
                <a:lnTo>
                  <a:pt x="1571900" y="0"/>
                </a:lnTo>
                <a:lnTo>
                  <a:pt x="1571900" y="803098"/>
                </a:lnTo>
                <a:lnTo>
                  <a:pt x="0" y="80309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Freeform 3"/>
          <p:cNvSpPr/>
          <p:nvPr/>
        </p:nvSpPr>
        <p:spPr>
          <a:xfrm flipH="1">
            <a:off x="711360" y="627120"/>
            <a:ext cx="1571400" cy="802800"/>
          </a:xfrm>
          <a:custGeom>
            <a:avLst/>
            <a:gdLst>
              <a:gd name="textAreaLeft" fmla="*/ -360 w 1571400"/>
              <a:gd name="textAreaRight" fmla="*/ 1571400 w 1571400"/>
              <a:gd name="textAreaTop" fmla="*/ 0 h 802800"/>
              <a:gd name="textAreaBottom" fmla="*/ 803160 h 802800"/>
            </a:gdLst>
            <a:ahLst/>
            <a:rect l="textAreaLeft" t="textAreaTop" r="textAreaRight" b="textAreaBottom"/>
            <a:pathLst>
              <a:path w="1571900" h="803098">
                <a:moveTo>
                  <a:pt x="1571900" y="0"/>
                </a:moveTo>
                <a:lnTo>
                  <a:pt x="0" y="0"/>
                </a:lnTo>
                <a:lnTo>
                  <a:pt x="0" y="803098"/>
                </a:lnTo>
                <a:lnTo>
                  <a:pt x="1571900" y="803098"/>
                </a:lnTo>
                <a:lnTo>
                  <a:pt x="157190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" name="Picture 4" descr=""/>
          <p:cNvPicPr/>
          <p:nvPr/>
        </p:nvPicPr>
        <p:blipFill>
          <a:blip r:embed="rId5"/>
          <a:stretch/>
        </p:blipFill>
        <p:spPr>
          <a:xfrm>
            <a:off x="825480" y="7172640"/>
            <a:ext cx="1298160" cy="1545480"/>
          </a:xfrm>
          <a:prstGeom prst="rect">
            <a:avLst/>
          </a:prstGeom>
          <a:ln w="0">
            <a:noFill/>
          </a:ln>
        </p:spPr>
      </p:pic>
      <p:pic>
        <p:nvPicPr>
          <p:cNvPr id="86" name="Picture 5" descr=""/>
          <p:cNvPicPr/>
          <p:nvPr/>
        </p:nvPicPr>
        <p:blipFill>
          <a:blip r:embed="rId6"/>
          <a:stretch/>
        </p:blipFill>
        <p:spPr>
          <a:xfrm>
            <a:off x="14101200" y="7635600"/>
            <a:ext cx="599760" cy="641160"/>
          </a:xfrm>
          <a:prstGeom prst="rect">
            <a:avLst/>
          </a:prstGeom>
          <a:ln w="0">
            <a:noFill/>
          </a:ln>
        </p:spPr>
      </p:pic>
      <p:pic>
        <p:nvPicPr>
          <p:cNvPr id="87" name="Picture 6" descr=""/>
          <p:cNvPicPr/>
          <p:nvPr/>
        </p:nvPicPr>
        <p:blipFill>
          <a:blip r:embed="rId7"/>
          <a:stretch/>
        </p:blipFill>
        <p:spPr>
          <a:xfrm>
            <a:off x="15054120" y="7635600"/>
            <a:ext cx="599760" cy="641160"/>
          </a:xfrm>
          <a:prstGeom prst="rect">
            <a:avLst/>
          </a:prstGeom>
          <a:ln w="0">
            <a:noFill/>
          </a:ln>
        </p:spPr>
      </p:pic>
      <p:pic>
        <p:nvPicPr>
          <p:cNvPr id="88" name="Picture 7" descr=""/>
          <p:cNvPicPr/>
          <p:nvPr/>
        </p:nvPicPr>
        <p:blipFill>
          <a:blip r:embed="rId8"/>
          <a:stretch/>
        </p:blipFill>
        <p:spPr>
          <a:xfrm>
            <a:off x="16006680" y="7635600"/>
            <a:ext cx="599760" cy="641160"/>
          </a:xfrm>
          <a:prstGeom prst="rect">
            <a:avLst/>
          </a:prstGeom>
          <a:ln w="0">
            <a:noFill/>
          </a:ln>
        </p:spPr>
      </p:pic>
      <p:sp>
        <p:nvSpPr>
          <p:cNvPr id="89" name="Freeform 8"/>
          <p:cNvSpPr/>
          <p:nvPr/>
        </p:nvSpPr>
        <p:spPr>
          <a:xfrm>
            <a:off x="15473160" y="479520"/>
            <a:ext cx="1785960" cy="295200"/>
          </a:xfrm>
          <a:custGeom>
            <a:avLst/>
            <a:gdLst>
              <a:gd name="textAreaLeft" fmla="*/ 0 w 1785960"/>
              <a:gd name="textAreaRight" fmla="*/ 1786320 w 1785960"/>
              <a:gd name="textAreaTop" fmla="*/ 0 h 295200"/>
              <a:gd name="textAreaBottom" fmla="*/ 295560 h 295200"/>
            </a:gdLst>
            <a:ahLst/>
            <a:rect l="textAreaLeft" t="textAreaTop" r="textAreaRight" b="textAreaBottom"/>
            <a:pathLst>
              <a:path w="1786268" h="295546">
                <a:moveTo>
                  <a:pt x="0" y="0"/>
                </a:moveTo>
                <a:lnTo>
                  <a:pt x="1786268" y="0"/>
                </a:lnTo>
                <a:lnTo>
                  <a:pt x="1786268" y="295546"/>
                </a:lnTo>
                <a:lnTo>
                  <a:pt x="0" y="29554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9"/>
          <p:cNvSpPr/>
          <p:nvPr/>
        </p:nvSpPr>
        <p:spPr>
          <a:xfrm>
            <a:off x="2283840" y="4278600"/>
            <a:ext cx="13200120" cy="90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7132"/>
              </a:lnSpc>
            </a:pPr>
            <a:r>
              <a:rPr b="0" lang="en-US" sz="5090" spc="-1" strike="noStrike">
                <a:solidFill>
                  <a:srgbClr val="ffde59"/>
                </a:solidFill>
                <a:latin typeface="Arcade Gamer"/>
                <a:ea typeface="Arcade Gamer"/>
              </a:rPr>
              <a:t>PROBLEMA Y CONTEXTO</a:t>
            </a:r>
            <a:endParaRPr b="0" lang="es-CL" sz="509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3233880" y="5439240"/>
            <a:ext cx="11820240" cy="13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535"/>
              </a:lnSpc>
            </a:pPr>
            <a:r>
              <a:rPr b="0" lang="en-US" sz="2530" spc="-1" strike="noStrike">
                <a:solidFill>
                  <a:srgbClr val="ffffff"/>
                </a:solidFill>
                <a:latin typeface="Arcade Gamer"/>
                <a:ea typeface="Arcade Gamer"/>
              </a:rPr>
              <a:t>APRENDER PROGRAMACIÓN PUEDE RESULTAR ABSTRACTO E INTIMIDANTE PARA PERSONAS SIN EXPERIENCIA PREVIA.</a:t>
            </a:r>
            <a:endParaRPr b="0" lang="es-CL" sz="253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3535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2" name="Group 11"/>
          <p:cNvGrpSpPr/>
          <p:nvPr/>
        </p:nvGrpSpPr>
        <p:grpSpPr>
          <a:xfrm>
            <a:off x="-140040" y="9100440"/>
            <a:ext cx="18724680" cy="1249920"/>
            <a:chOff x="-140040" y="9100440"/>
            <a:chExt cx="18724680" cy="1249920"/>
          </a:xfrm>
        </p:grpSpPr>
        <p:sp>
          <p:nvSpPr>
            <p:cNvPr id="93" name="Freeform 12"/>
            <p:cNvSpPr/>
            <p:nvPr/>
          </p:nvSpPr>
          <p:spPr>
            <a:xfrm>
              <a:off x="-140040" y="9100440"/>
              <a:ext cx="7314840" cy="1249920"/>
            </a:xfrm>
            <a:custGeom>
              <a:avLst/>
              <a:gdLst>
                <a:gd name="textAreaLeft" fmla="*/ 0 w 7314840"/>
                <a:gd name="textAreaRight" fmla="*/ 7315200 w 7314840"/>
                <a:gd name="textAreaTop" fmla="*/ 0 h 1249920"/>
                <a:gd name="textAreaBottom" fmla="*/ 1250280 h 1249920"/>
              </a:gdLst>
              <a:ahLst/>
              <a:rect l="textAreaLeft" t="textAreaTop" r="textAreaRight" b="textAreaBottom"/>
              <a:pathLst>
                <a:path w="9753600" h="1666979">
                  <a:moveTo>
                    <a:pt x="0" y="0"/>
                  </a:moveTo>
                  <a:lnTo>
                    <a:pt x="9753600" y="0"/>
                  </a:lnTo>
                  <a:lnTo>
                    <a:pt x="9753600" y="1666979"/>
                  </a:lnTo>
                  <a:lnTo>
                    <a:pt x="0" y="166697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4" name="Freeform 13"/>
            <p:cNvSpPr/>
            <p:nvPr/>
          </p:nvSpPr>
          <p:spPr>
            <a:xfrm>
              <a:off x="6534360" y="9100440"/>
              <a:ext cx="7314840" cy="1249920"/>
            </a:xfrm>
            <a:custGeom>
              <a:avLst/>
              <a:gdLst>
                <a:gd name="textAreaLeft" fmla="*/ 0 w 7314840"/>
                <a:gd name="textAreaRight" fmla="*/ 7315200 w 7314840"/>
                <a:gd name="textAreaTop" fmla="*/ 0 h 1249920"/>
                <a:gd name="textAreaBottom" fmla="*/ 1250280 h 1249920"/>
              </a:gdLst>
              <a:ahLst/>
              <a:rect l="textAreaLeft" t="textAreaTop" r="textAreaRight" b="textAreaBottom"/>
              <a:pathLst>
                <a:path w="9753600" h="1666979">
                  <a:moveTo>
                    <a:pt x="0" y="0"/>
                  </a:moveTo>
                  <a:lnTo>
                    <a:pt x="9753600" y="0"/>
                  </a:lnTo>
                  <a:lnTo>
                    <a:pt x="9753600" y="1666979"/>
                  </a:lnTo>
                  <a:lnTo>
                    <a:pt x="0" y="166697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5" name="Freeform 14"/>
            <p:cNvSpPr/>
            <p:nvPr/>
          </p:nvSpPr>
          <p:spPr>
            <a:xfrm>
              <a:off x="11269800" y="9100440"/>
              <a:ext cx="7314840" cy="1249920"/>
            </a:xfrm>
            <a:custGeom>
              <a:avLst/>
              <a:gdLst>
                <a:gd name="textAreaLeft" fmla="*/ 0 w 7314840"/>
                <a:gd name="textAreaRight" fmla="*/ 7315200 w 7314840"/>
                <a:gd name="textAreaTop" fmla="*/ 0 h 1249920"/>
                <a:gd name="textAreaBottom" fmla="*/ 1250280 h 1249920"/>
              </a:gdLst>
              <a:ahLst/>
              <a:rect l="textAreaLeft" t="textAreaTop" r="textAreaRight" b="textAreaBottom"/>
              <a:pathLst>
                <a:path w="9753600" h="1666979">
                  <a:moveTo>
                    <a:pt x="0" y="0"/>
                  </a:moveTo>
                  <a:lnTo>
                    <a:pt x="9753600" y="0"/>
                  </a:lnTo>
                  <a:lnTo>
                    <a:pt x="9753600" y="1666979"/>
                  </a:lnTo>
                  <a:lnTo>
                    <a:pt x="0" y="1666979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7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 2"/>
          <p:cNvSpPr/>
          <p:nvPr/>
        </p:nvSpPr>
        <p:spPr>
          <a:xfrm>
            <a:off x="12046320" y="5270040"/>
            <a:ext cx="686520" cy="290880"/>
          </a:xfrm>
          <a:custGeom>
            <a:avLst/>
            <a:gdLst>
              <a:gd name="textAreaLeft" fmla="*/ 0 w 686520"/>
              <a:gd name="textAreaRight" fmla="*/ 686880 w 686520"/>
              <a:gd name="textAreaTop" fmla="*/ 0 h 290880"/>
              <a:gd name="textAreaBottom" fmla="*/ 291240 h 290880"/>
            </a:gdLst>
            <a:ahLst/>
            <a:rect l="textAreaLeft" t="textAreaTop" r="textAreaRight" b="textAreaBottom"/>
            <a:pathLst>
              <a:path w="686745" h="291256">
                <a:moveTo>
                  <a:pt x="0" y="0"/>
                </a:moveTo>
                <a:lnTo>
                  <a:pt x="686745" y="0"/>
                </a:lnTo>
                <a:lnTo>
                  <a:pt x="686745" y="291256"/>
                </a:lnTo>
                <a:lnTo>
                  <a:pt x="0" y="2912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Freeform 3"/>
          <p:cNvSpPr/>
          <p:nvPr/>
        </p:nvSpPr>
        <p:spPr>
          <a:xfrm>
            <a:off x="10510200" y="2532240"/>
            <a:ext cx="6062040" cy="5766120"/>
          </a:xfrm>
          <a:custGeom>
            <a:avLst/>
            <a:gdLst>
              <a:gd name="textAreaLeft" fmla="*/ 0 w 6062040"/>
              <a:gd name="textAreaRight" fmla="*/ 6062400 w 6062040"/>
              <a:gd name="textAreaTop" fmla="*/ 0 h 5766120"/>
              <a:gd name="textAreaBottom" fmla="*/ 5766480 h 5766120"/>
            </a:gdLst>
            <a:ahLst/>
            <a:rect l="textAreaLeft" t="textAreaTop" r="textAreaRight" b="textAreaBottom"/>
            <a:pathLst>
              <a:path w="6062385" h="5766659">
                <a:moveTo>
                  <a:pt x="0" y="0"/>
                </a:moveTo>
                <a:lnTo>
                  <a:pt x="6062385" y="0"/>
                </a:lnTo>
                <a:lnTo>
                  <a:pt x="6062385" y="5766659"/>
                </a:lnTo>
                <a:lnTo>
                  <a:pt x="0" y="576665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4"/>
          <p:cNvSpPr/>
          <p:nvPr/>
        </p:nvSpPr>
        <p:spPr>
          <a:xfrm>
            <a:off x="411480" y="917640"/>
            <a:ext cx="10684800" cy="18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132"/>
              </a:lnSpc>
            </a:pPr>
            <a:r>
              <a:rPr b="0" lang="en-US" sz="5090" spc="-1" strike="noStrike">
                <a:solidFill>
                  <a:srgbClr val="ffde59"/>
                </a:solidFill>
                <a:latin typeface="Arcade Gamer"/>
                <a:ea typeface="Arcade Gamer"/>
              </a:rPr>
              <a:t>PROPUESTA DE VALOR</a:t>
            </a:r>
            <a:endParaRPr b="0" lang="es-CL" sz="509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7132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5"/>
          <p:cNvSpPr/>
          <p:nvPr/>
        </p:nvSpPr>
        <p:spPr>
          <a:xfrm>
            <a:off x="787680" y="2229120"/>
            <a:ext cx="7967880" cy="37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01"/>
              </a:lnSpc>
            </a:pPr>
            <a:r>
              <a:rPr b="0" lang="en-US" sz="3000" spc="-1" strike="noStrike">
                <a:solidFill>
                  <a:srgbClr val="ffffff"/>
                </a:solidFill>
                <a:latin typeface="Poppins"/>
                <a:ea typeface="Poppins"/>
              </a:rPr>
              <a:t>Directiva es un videojuego educativo de estrategia y automatización para computadores de escritorio.</a:t>
            </a:r>
            <a:endParaRPr b="0" lang="es-CL" sz="3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4201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4201"/>
              </a:lnSpc>
            </a:pPr>
            <a:r>
              <a:rPr b="0" lang="en-US" sz="3000" spc="-1" strike="noStrike">
                <a:solidFill>
                  <a:srgbClr val="ffffff"/>
                </a:solidFill>
                <a:latin typeface="Poppins"/>
                <a:ea typeface="Poppins"/>
              </a:rPr>
              <a:t>El jugador programa agentes autónomos, ejecuta una simulación y analiza los resultados para mejorar su solución</a:t>
            </a:r>
            <a:endParaRPr b="0" lang="es-CL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Box 6"/>
          <p:cNvSpPr/>
          <p:nvPr/>
        </p:nvSpPr>
        <p:spPr>
          <a:xfrm>
            <a:off x="787680" y="6635520"/>
            <a:ext cx="6448680" cy="21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648000" indent="-324000" defTabSz="914400">
              <a:lnSpc>
                <a:spcPts val="4201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3000" spc="-1" strike="noStrike">
                <a:solidFill>
                  <a:srgbClr val="ffffff"/>
                </a:solidFill>
                <a:latin typeface="Poppins"/>
                <a:ea typeface="Poppins"/>
              </a:rPr>
              <a:t>Programar comportamientos</a:t>
            </a:r>
            <a:endParaRPr b="0" lang="es-CL" sz="3000" spc="-1" strike="noStrike">
              <a:solidFill>
                <a:srgbClr val="ffffff"/>
              </a:solidFill>
              <a:latin typeface="Arial"/>
            </a:endParaRPr>
          </a:p>
          <a:p>
            <a:pPr lvl="1" marL="648000" indent="-324000" defTabSz="914400">
              <a:lnSpc>
                <a:spcPts val="4201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3000" spc="-1" strike="noStrike">
                <a:solidFill>
                  <a:srgbClr val="ffffff"/>
                </a:solidFill>
                <a:latin typeface="Poppins"/>
                <a:ea typeface="Poppins"/>
              </a:rPr>
              <a:t>Observar la simulación</a:t>
            </a:r>
            <a:endParaRPr b="0" lang="es-CL" sz="3000" spc="-1" strike="noStrike">
              <a:solidFill>
                <a:srgbClr val="ffffff"/>
              </a:solidFill>
              <a:latin typeface="Arial"/>
            </a:endParaRPr>
          </a:p>
          <a:p>
            <a:pPr lvl="1" marL="648000" indent="-324000" defTabSz="914400">
              <a:lnSpc>
                <a:spcPts val="4201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3000" spc="-1" strike="noStrike">
                <a:solidFill>
                  <a:srgbClr val="ffffff"/>
                </a:solidFill>
                <a:latin typeface="Poppins"/>
                <a:ea typeface="Poppins"/>
              </a:rPr>
              <a:t>Depurar y mejorar</a:t>
            </a:r>
            <a:endParaRPr b="0" lang="es-CL" sz="3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4059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7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Freeform 2"/>
          <p:cNvSpPr/>
          <p:nvPr/>
        </p:nvSpPr>
        <p:spPr>
          <a:xfrm>
            <a:off x="15830640" y="479520"/>
            <a:ext cx="1428480" cy="295200"/>
          </a:xfrm>
          <a:custGeom>
            <a:avLst/>
            <a:gdLst>
              <a:gd name="textAreaLeft" fmla="*/ 0 w 1428480"/>
              <a:gd name="textAreaRight" fmla="*/ 1428840 w 1428480"/>
              <a:gd name="textAreaTop" fmla="*/ 0 h 295200"/>
              <a:gd name="textAreaBottom" fmla="*/ 295560 h 295200"/>
            </a:gdLst>
            <a:ahLst/>
            <a:rect l="textAreaLeft" t="textAreaTop" r="textAreaRight" b="textAreaBottom"/>
            <a:pathLst>
              <a:path w="1428750" h="295546">
                <a:moveTo>
                  <a:pt x="0" y="0"/>
                </a:moveTo>
                <a:lnTo>
                  <a:pt x="1428750" y="0"/>
                </a:lnTo>
                <a:lnTo>
                  <a:pt x="1428750" y="295546"/>
                </a:lnTo>
                <a:lnTo>
                  <a:pt x="0" y="29554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Picture 3" descr=""/>
          <p:cNvPicPr/>
          <p:nvPr/>
        </p:nvPicPr>
        <p:blipFill>
          <a:blip r:embed="rId2"/>
          <a:stretch/>
        </p:blipFill>
        <p:spPr>
          <a:xfrm>
            <a:off x="8503560" y="3500280"/>
            <a:ext cx="607680" cy="648720"/>
          </a:xfrm>
          <a:prstGeom prst="rect">
            <a:avLst/>
          </a:prstGeom>
          <a:ln w="0">
            <a:noFill/>
          </a:ln>
        </p:spPr>
      </p:pic>
      <p:grpSp>
        <p:nvGrpSpPr>
          <p:cNvPr id="103" name="Group 4"/>
          <p:cNvGrpSpPr/>
          <p:nvPr/>
        </p:nvGrpSpPr>
        <p:grpSpPr>
          <a:xfrm>
            <a:off x="1073160" y="2891880"/>
            <a:ext cx="1387080" cy="1582200"/>
            <a:chOff x="1073160" y="2891880"/>
            <a:chExt cx="1387080" cy="1582200"/>
          </a:xfrm>
        </p:grpSpPr>
        <p:sp>
          <p:nvSpPr>
            <p:cNvPr id="104" name="Freeform 5"/>
            <p:cNvSpPr/>
            <p:nvPr/>
          </p:nvSpPr>
          <p:spPr>
            <a:xfrm>
              <a:off x="1073160" y="3087000"/>
              <a:ext cx="1387080" cy="1387080"/>
            </a:xfrm>
            <a:custGeom>
              <a:avLst/>
              <a:gdLst>
                <a:gd name="textAreaLeft" fmla="*/ 0 w 1387080"/>
                <a:gd name="textAreaRight" fmla="*/ 1387440 w 1387080"/>
                <a:gd name="textAreaTop" fmla="*/ 0 h 1387080"/>
                <a:gd name="textAreaBottom" fmla="*/ 1387440 h 1387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noFill/>
            <a:ln cap="sq" w="38100">
              <a:solidFill>
                <a:srgbClr val="9e77f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5" name="TextBox 6"/>
            <p:cNvSpPr/>
            <p:nvPr/>
          </p:nvSpPr>
          <p:spPr>
            <a:xfrm>
              <a:off x="1073160" y="2891880"/>
              <a:ext cx="1387080" cy="1582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318"/>
                </a:lnSpc>
              </a:pPr>
              <a:endParaRPr b="0" lang="en-US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</p:grpSp>
      <p:pic>
        <p:nvPicPr>
          <p:cNvPr id="106" name="Picture 7" descr=""/>
          <p:cNvPicPr/>
          <p:nvPr/>
        </p:nvPicPr>
        <p:blipFill>
          <a:blip r:embed="rId3"/>
          <a:stretch/>
        </p:blipFill>
        <p:spPr>
          <a:xfrm>
            <a:off x="1502280" y="3256560"/>
            <a:ext cx="591120" cy="1048320"/>
          </a:xfrm>
          <a:prstGeom prst="rect">
            <a:avLst/>
          </a:prstGeom>
          <a:ln w="0">
            <a:noFill/>
          </a:ln>
        </p:spPr>
      </p:pic>
      <p:grpSp>
        <p:nvGrpSpPr>
          <p:cNvPr id="107" name="Group 8"/>
          <p:cNvGrpSpPr/>
          <p:nvPr/>
        </p:nvGrpSpPr>
        <p:grpSpPr>
          <a:xfrm>
            <a:off x="11602080" y="7390080"/>
            <a:ext cx="1387080" cy="1582200"/>
            <a:chOff x="11602080" y="7390080"/>
            <a:chExt cx="1387080" cy="1582200"/>
          </a:xfrm>
        </p:grpSpPr>
        <p:sp>
          <p:nvSpPr>
            <p:cNvPr id="108" name="Freeform 9"/>
            <p:cNvSpPr/>
            <p:nvPr/>
          </p:nvSpPr>
          <p:spPr>
            <a:xfrm>
              <a:off x="11602080" y="7585200"/>
              <a:ext cx="1387080" cy="1387080"/>
            </a:xfrm>
            <a:custGeom>
              <a:avLst/>
              <a:gdLst>
                <a:gd name="textAreaLeft" fmla="*/ 0 w 1387080"/>
                <a:gd name="textAreaRight" fmla="*/ 1387440 w 1387080"/>
                <a:gd name="textAreaTop" fmla="*/ 0 h 1387080"/>
                <a:gd name="textAreaBottom" fmla="*/ 1387440 h 1387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noFill/>
            <a:ln cap="sq" w="38100">
              <a:solidFill>
                <a:srgbClr val="9e77f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9" name="TextBox 10"/>
            <p:cNvSpPr/>
            <p:nvPr/>
          </p:nvSpPr>
          <p:spPr>
            <a:xfrm>
              <a:off x="11602080" y="7390080"/>
              <a:ext cx="1387080" cy="1582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318"/>
                </a:lnSpc>
              </a:pPr>
              <a:endParaRPr b="0" lang="en-US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</p:grpSp>
      <p:pic>
        <p:nvPicPr>
          <p:cNvPr id="110" name="Picture 11" descr=""/>
          <p:cNvPicPr/>
          <p:nvPr/>
        </p:nvPicPr>
        <p:blipFill>
          <a:blip r:embed="rId4"/>
          <a:stretch/>
        </p:blipFill>
        <p:spPr>
          <a:xfrm>
            <a:off x="11705040" y="7756200"/>
            <a:ext cx="1181520" cy="880200"/>
          </a:xfrm>
          <a:prstGeom prst="rect">
            <a:avLst/>
          </a:prstGeom>
          <a:ln w="0">
            <a:noFill/>
          </a:ln>
        </p:spPr>
      </p:pic>
      <p:sp>
        <p:nvSpPr>
          <p:cNvPr id="111" name="AutoShape 12"/>
          <p:cNvSpPr/>
          <p:nvPr/>
        </p:nvSpPr>
        <p:spPr>
          <a:xfrm>
            <a:off x="1297440" y="6000480"/>
            <a:ext cx="15516360" cy="360"/>
          </a:xfrm>
          <a:prstGeom prst="line">
            <a:avLst/>
          </a:prstGeom>
          <a:ln w="28575">
            <a:solidFill>
              <a:srgbClr val="ffffff"/>
            </a:solidFill>
            <a:round/>
            <a:headEnd len="lg" type="diamond" w="lg"/>
            <a:tailEnd len="lg" type="diamond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AutoShape 13"/>
          <p:cNvSpPr/>
          <p:nvPr/>
        </p:nvSpPr>
        <p:spPr>
          <a:xfrm flipV="1">
            <a:off x="5110920" y="5986080"/>
            <a:ext cx="360" cy="1363320"/>
          </a:xfrm>
          <a:prstGeom prst="line">
            <a:avLst/>
          </a:prstGeom>
          <a:ln w="28575">
            <a:solidFill>
              <a:srgbClr val="ffffff"/>
            </a:solidFill>
            <a:round/>
            <a:headEnd len="lg" type="diamond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AutoShape 14"/>
          <p:cNvSpPr/>
          <p:nvPr/>
        </p:nvSpPr>
        <p:spPr>
          <a:xfrm flipV="1">
            <a:off x="12281400" y="6000480"/>
            <a:ext cx="360" cy="1362960"/>
          </a:xfrm>
          <a:prstGeom prst="line">
            <a:avLst/>
          </a:prstGeom>
          <a:ln w="28575">
            <a:solidFill>
              <a:srgbClr val="ffffff"/>
            </a:solidFill>
            <a:round/>
            <a:headEnd len="lg" type="diamond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AutoShape 15"/>
          <p:cNvSpPr/>
          <p:nvPr/>
        </p:nvSpPr>
        <p:spPr>
          <a:xfrm>
            <a:off x="8793360" y="4623120"/>
            <a:ext cx="0" cy="1362960"/>
          </a:xfrm>
          <a:prstGeom prst="line">
            <a:avLst/>
          </a:prstGeom>
          <a:ln w="28575">
            <a:solidFill>
              <a:srgbClr val="ffffff"/>
            </a:solidFill>
            <a:round/>
            <a:headEnd len="lg" type="diamond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AutoShape 16"/>
          <p:cNvSpPr/>
          <p:nvPr/>
        </p:nvSpPr>
        <p:spPr>
          <a:xfrm>
            <a:off x="1766880" y="4623120"/>
            <a:ext cx="0" cy="1362960"/>
          </a:xfrm>
          <a:prstGeom prst="line">
            <a:avLst/>
          </a:prstGeom>
          <a:ln w="28575">
            <a:solidFill>
              <a:srgbClr val="ffffff"/>
            </a:solidFill>
            <a:round/>
            <a:headEnd len="lg" type="diamond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16" name="Group 17"/>
          <p:cNvGrpSpPr/>
          <p:nvPr/>
        </p:nvGrpSpPr>
        <p:grpSpPr>
          <a:xfrm>
            <a:off x="8099640" y="2891880"/>
            <a:ext cx="1387080" cy="1582200"/>
            <a:chOff x="8099640" y="2891880"/>
            <a:chExt cx="1387080" cy="1582200"/>
          </a:xfrm>
        </p:grpSpPr>
        <p:sp>
          <p:nvSpPr>
            <p:cNvPr id="117" name="Freeform 18"/>
            <p:cNvSpPr/>
            <p:nvPr/>
          </p:nvSpPr>
          <p:spPr>
            <a:xfrm>
              <a:off x="8099640" y="3087000"/>
              <a:ext cx="1387080" cy="1387080"/>
            </a:xfrm>
            <a:custGeom>
              <a:avLst/>
              <a:gdLst>
                <a:gd name="textAreaLeft" fmla="*/ 0 w 1387080"/>
                <a:gd name="textAreaRight" fmla="*/ 1387440 w 1387080"/>
                <a:gd name="textAreaTop" fmla="*/ 0 h 1387080"/>
                <a:gd name="textAreaBottom" fmla="*/ 1387440 h 1387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noFill/>
            <a:ln cap="sq" w="38100">
              <a:solidFill>
                <a:srgbClr val="9e77f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8" name="TextBox 19"/>
            <p:cNvSpPr/>
            <p:nvPr/>
          </p:nvSpPr>
          <p:spPr>
            <a:xfrm>
              <a:off x="8099640" y="2891880"/>
              <a:ext cx="1387080" cy="1582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318"/>
                </a:lnSpc>
              </a:pPr>
              <a:endParaRPr b="0" lang="en-US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</p:grpSp>
      <p:sp>
        <p:nvSpPr>
          <p:cNvPr id="119" name="Freeform 20"/>
          <p:cNvSpPr/>
          <p:nvPr/>
        </p:nvSpPr>
        <p:spPr>
          <a:xfrm>
            <a:off x="3502080" y="7646400"/>
            <a:ext cx="2634120" cy="1740600"/>
          </a:xfrm>
          <a:custGeom>
            <a:avLst/>
            <a:gdLst>
              <a:gd name="textAreaLeft" fmla="*/ 0 w 2634120"/>
              <a:gd name="textAreaRight" fmla="*/ 2634480 w 2634120"/>
              <a:gd name="textAreaTop" fmla="*/ 0 h 1740600"/>
              <a:gd name="textAreaBottom" fmla="*/ 1740960 h 1740600"/>
            </a:gdLst>
            <a:ahLst/>
            <a:rect l="textAreaLeft" t="textAreaTop" r="textAreaRight" b="textAreaBottom"/>
            <a:pathLst>
              <a:path w="2634556" h="1741098">
                <a:moveTo>
                  <a:pt x="0" y="0"/>
                </a:moveTo>
                <a:lnTo>
                  <a:pt x="2634555" y="0"/>
                </a:lnTo>
                <a:lnTo>
                  <a:pt x="2634555" y="1741097"/>
                </a:lnTo>
                <a:lnTo>
                  <a:pt x="0" y="174109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Freeform 21"/>
          <p:cNvSpPr/>
          <p:nvPr/>
        </p:nvSpPr>
        <p:spPr>
          <a:xfrm>
            <a:off x="1188000" y="7457040"/>
            <a:ext cx="2390400" cy="2358720"/>
          </a:xfrm>
          <a:custGeom>
            <a:avLst/>
            <a:gdLst>
              <a:gd name="textAreaLeft" fmla="*/ 0 w 2390400"/>
              <a:gd name="textAreaRight" fmla="*/ 2390760 w 2390400"/>
              <a:gd name="textAreaTop" fmla="*/ 0 h 2358720"/>
              <a:gd name="textAreaBottom" fmla="*/ 2359080 h 2358720"/>
            </a:gdLst>
            <a:ahLst/>
            <a:rect l="textAreaLeft" t="textAreaTop" r="textAreaRight" b="textAreaBottom"/>
            <a:pathLst>
              <a:path w="2390649" h="2359194">
                <a:moveTo>
                  <a:pt x="0" y="0"/>
                </a:moveTo>
                <a:lnTo>
                  <a:pt x="2390650" y="0"/>
                </a:lnTo>
                <a:lnTo>
                  <a:pt x="2390650" y="2359193"/>
                </a:lnTo>
                <a:lnTo>
                  <a:pt x="0" y="235919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Freeform 22"/>
          <p:cNvSpPr/>
          <p:nvPr/>
        </p:nvSpPr>
        <p:spPr>
          <a:xfrm>
            <a:off x="9739440" y="2736720"/>
            <a:ext cx="6499800" cy="2882520"/>
          </a:xfrm>
          <a:custGeom>
            <a:avLst/>
            <a:gdLst>
              <a:gd name="textAreaLeft" fmla="*/ 0 w 6499800"/>
              <a:gd name="textAreaRight" fmla="*/ 6500160 w 6499800"/>
              <a:gd name="textAreaTop" fmla="*/ 0 h 2882520"/>
              <a:gd name="textAreaBottom" fmla="*/ 2882880 h 2882520"/>
            </a:gdLst>
            <a:ahLst/>
            <a:rect l="textAreaLeft" t="textAreaTop" r="textAreaRight" b="textAreaBottom"/>
            <a:pathLst>
              <a:path w="6500116" h="2882781">
                <a:moveTo>
                  <a:pt x="0" y="0"/>
                </a:moveTo>
                <a:lnTo>
                  <a:pt x="6500116" y="0"/>
                </a:lnTo>
                <a:lnTo>
                  <a:pt x="6500116" y="2882780"/>
                </a:lnTo>
                <a:lnTo>
                  <a:pt x="0" y="288278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23"/>
          <p:cNvSpPr/>
          <p:nvPr/>
        </p:nvSpPr>
        <p:spPr>
          <a:xfrm>
            <a:off x="1188000" y="632160"/>
            <a:ext cx="12819240" cy="18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132"/>
              </a:lnSpc>
            </a:pPr>
            <a:r>
              <a:rPr b="0" lang="en-US" sz="5090" spc="-1" strike="noStrike">
                <a:solidFill>
                  <a:srgbClr val="ffde59"/>
                </a:solidFill>
                <a:latin typeface="Arcade Gamer"/>
                <a:ea typeface="Arcade Gamer"/>
              </a:rPr>
              <a:t>¿CÓMO FUNCIONA DIRECTIVA?</a:t>
            </a:r>
            <a:endParaRPr b="0" lang="es-CL" sz="509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7132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Box 24"/>
          <p:cNvSpPr/>
          <p:nvPr/>
        </p:nvSpPr>
        <p:spPr>
          <a:xfrm>
            <a:off x="2817720" y="3580200"/>
            <a:ext cx="4557960" cy="11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78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Crear programas con sintaxis inspirada en Python.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078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Box 25"/>
          <p:cNvSpPr/>
          <p:nvPr/>
        </p:nvSpPr>
        <p:spPr>
          <a:xfrm>
            <a:off x="6136920" y="8086680"/>
            <a:ext cx="4557960" cy="11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78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Asignar instrucciones a Agentes y Nexo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078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26"/>
          <p:cNvSpPr/>
          <p:nvPr/>
        </p:nvSpPr>
        <p:spPr>
          <a:xfrm>
            <a:off x="13229640" y="8097120"/>
            <a:ext cx="3984480" cy="78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78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Observar errores, resultados y oportunidades de mejora.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Box 27"/>
          <p:cNvSpPr/>
          <p:nvPr/>
        </p:nvSpPr>
        <p:spPr>
          <a:xfrm>
            <a:off x="2817720" y="3094200"/>
            <a:ext cx="3318840" cy="4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41080" indent="-270720" defTabSz="914400">
              <a:lnSpc>
                <a:spcPts val="3509"/>
              </a:lnSpc>
              <a:buClr>
                <a:srgbClr val="ffde59"/>
              </a:buClr>
              <a:buFont typeface="OpenSymbol"/>
              <a:buAutoNum type="arabicPeriod"/>
            </a:pPr>
            <a:r>
              <a:rPr b="0" lang="en-US" sz="2510" spc="-1" strike="noStrike">
                <a:solidFill>
                  <a:srgbClr val="ffde59"/>
                </a:solidFill>
                <a:latin typeface="Arcade Gamer"/>
                <a:ea typeface="Arcade Gamer"/>
              </a:rPr>
              <a:t>PROGRAMAR</a:t>
            </a:r>
            <a:endParaRPr b="0" lang="es-CL" sz="25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Box 28"/>
          <p:cNvSpPr/>
          <p:nvPr/>
        </p:nvSpPr>
        <p:spPr>
          <a:xfrm>
            <a:off x="6136920" y="7600680"/>
            <a:ext cx="3318840" cy="4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41080" indent="-270720" defTabSz="914400">
              <a:lnSpc>
                <a:spcPts val="3509"/>
              </a:lnSpc>
              <a:buClr>
                <a:srgbClr val="ffde59"/>
              </a:buClr>
              <a:buFont typeface="OpenSymbol"/>
              <a:buAutoNum type="arabicPeriod"/>
            </a:pPr>
            <a:r>
              <a:rPr b="0" lang="en-US" sz="2510" spc="-1" strike="noStrike">
                <a:solidFill>
                  <a:srgbClr val="ffde59"/>
                </a:solidFill>
                <a:latin typeface="Arcade Gamer"/>
                <a:ea typeface="Arcade Gamer"/>
              </a:rPr>
              <a:t>ASIGNAR</a:t>
            </a:r>
            <a:endParaRPr b="0" lang="es-CL" sz="25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Box 29"/>
          <p:cNvSpPr/>
          <p:nvPr/>
        </p:nvSpPr>
        <p:spPr>
          <a:xfrm>
            <a:off x="9659160" y="2160360"/>
            <a:ext cx="3318840" cy="4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41080" indent="-270720" defTabSz="914400">
              <a:lnSpc>
                <a:spcPts val="3509"/>
              </a:lnSpc>
              <a:buClr>
                <a:srgbClr val="ffde59"/>
              </a:buClr>
              <a:buFont typeface="OpenSymbol"/>
              <a:buAutoNum type="arabicPeriod"/>
            </a:pPr>
            <a:r>
              <a:rPr b="0" lang="en-US" sz="2510" spc="-1" strike="noStrike">
                <a:solidFill>
                  <a:srgbClr val="ffde59"/>
                </a:solidFill>
                <a:latin typeface="Arcade Gamer"/>
                <a:ea typeface="Arcade Gamer"/>
              </a:rPr>
              <a:t>SIMULAR</a:t>
            </a:r>
            <a:endParaRPr b="0" lang="es-CL" sz="25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Box 30"/>
          <p:cNvSpPr/>
          <p:nvPr/>
        </p:nvSpPr>
        <p:spPr>
          <a:xfrm>
            <a:off x="13229640" y="7611480"/>
            <a:ext cx="3318840" cy="4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41080" indent="-270720" defTabSz="914400">
              <a:lnSpc>
                <a:spcPts val="3509"/>
              </a:lnSpc>
              <a:buClr>
                <a:srgbClr val="ffde59"/>
              </a:buClr>
              <a:buFont typeface="OpenSymbol"/>
              <a:buAutoNum type="arabicPeriod"/>
            </a:pPr>
            <a:r>
              <a:rPr b="0" lang="en-US" sz="2510" spc="-1" strike="noStrike">
                <a:solidFill>
                  <a:srgbClr val="ffde59"/>
                </a:solidFill>
                <a:latin typeface="Arcade Gamer"/>
                <a:ea typeface="Arcade Gamer"/>
              </a:rPr>
              <a:t>ANALIZAR</a:t>
            </a:r>
            <a:endParaRPr b="0" lang="es-CL" sz="25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31"/>
          <p:cNvSpPr/>
          <p:nvPr/>
        </p:nvSpPr>
        <p:spPr>
          <a:xfrm>
            <a:off x="1502280" y="1629720"/>
            <a:ext cx="11860560" cy="153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364"/>
              </a:lnSpc>
            </a:pPr>
            <a:r>
              <a:rPr b="0" lang="en-US" sz="1690" spc="-1" strike="noStrike">
                <a:solidFill>
                  <a:srgbClr val="ffde59">
                    <a:alpha val="66000"/>
                  </a:srgbClr>
                </a:solidFill>
                <a:latin typeface="Arcade Gamer"/>
                <a:ea typeface="Arcade Gamer"/>
              </a:rPr>
              <a:t>EL JUGADOR PREPARA LA ESTRATEGIA ANTES DE INICIAR LA SIMULACIÓN.</a:t>
            </a:r>
            <a:endParaRPr b="0" lang="es-CL" sz="169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804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804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089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7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roup 2"/>
          <p:cNvGrpSpPr/>
          <p:nvPr/>
        </p:nvGrpSpPr>
        <p:grpSpPr>
          <a:xfrm>
            <a:off x="6363360" y="2766960"/>
            <a:ext cx="1387080" cy="1582200"/>
            <a:chOff x="6363360" y="2766960"/>
            <a:chExt cx="1387080" cy="1582200"/>
          </a:xfrm>
        </p:grpSpPr>
        <p:sp>
          <p:nvSpPr>
            <p:cNvPr id="132" name="Freeform 3"/>
            <p:cNvSpPr/>
            <p:nvPr/>
          </p:nvSpPr>
          <p:spPr>
            <a:xfrm>
              <a:off x="6363360" y="2962080"/>
              <a:ext cx="1387080" cy="1387080"/>
            </a:xfrm>
            <a:custGeom>
              <a:avLst/>
              <a:gdLst>
                <a:gd name="textAreaLeft" fmla="*/ 0 w 1387080"/>
                <a:gd name="textAreaRight" fmla="*/ 1387440 w 1387080"/>
                <a:gd name="textAreaTop" fmla="*/ 0 h 1387080"/>
                <a:gd name="textAreaBottom" fmla="*/ 1387440 h 1387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noFill/>
            <a:ln cap="sq" w="38100">
              <a:solidFill>
                <a:srgbClr val="9e77f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3" name="TextBox 4"/>
            <p:cNvSpPr/>
            <p:nvPr/>
          </p:nvSpPr>
          <p:spPr>
            <a:xfrm>
              <a:off x="6363360" y="2766960"/>
              <a:ext cx="1387080" cy="1582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318"/>
                </a:lnSpc>
              </a:pPr>
              <a:r>
                <a:rPr b="0" lang="en-US" sz="3800" spc="-1" strike="noStrike">
                  <a:solidFill>
                    <a:srgbClr val="ffde59"/>
                  </a:solidFill>
                  <a:latin typeface="Arcade Gamer"/>
                  <a:ea typeface="Arcade Gamer"/>
                </a:rPr>
                <a:t>01</a:t>
              </a:r>
              <a:endParaRPr b="0" lang="es-CL" sz="3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34" name="Group 5"/>
          <p:cNvGrpSpPr/>
          <p:nvPr/>
        </p:nvGrpSpPr>
        <p:grpSpPr>
          <a:xfrm>
            <a:off x="10380600" y="2766960"/>
            <a:ext cx="1387080" cy="1582200"/>
            <a:chOff x="10380600" y="2766960"/>
            <a:chExt cx="1387080" cy="1582200"/>
          </a:xfrm>
        </p:grpSpPr>
        <p:sp>
          <p:nvSpPr>
            <p:cNvPr id="135" name="Freeform 6"/>
            <p:cNvSpPr/>
            <p:nvPr/>
          </p:nvSpPr>
          <p:spPr>
            <a:xfrm>
              <a:off x="10380600" y="2962080"/>
              <a:ext cx="1387080" cy="1387080"/>
            </a:xfrm>
            <a:custGeom>
              <a:avLst/>
              <a:gdLst>
                <a:gd name="textAreaLeft" fmla="*/ 0 w 1387080"/>
                <a:gd name="textAreaRight" fmla="*/ 1387440 w 1387080"/>
                <a:gd name="textAreaTop" fmla="*/ 0 h 1387080"/>
                <a:gd name="textAreaBottom" fmla="*/ 1387440 h 1387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noFill/>
            <a:ln cap="sq" w="38100">
              <a:solidFill>
                <a:srgbClr val="9e77f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6" name="TextBox 7"/>
            <p:cNvSpPr/>
            <p:nvPr/>
          </p:nvSpPr>
          <p:spPr>
            <a:xfrm>
              <a:off x="10380600" y="2766960"/>
              <a:ext cx="1387080" cy="1582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318"/>
                </a:lnSpc>
              </a:pPr>
              <a:r>
                <a:rPr b="0" lang="en-US" sz="3800" spc="-1" strike="noStrike">
                  <a:solidFill>
                    <a:srgbClr val="ffde59"/>
                  </a:solidFill>
                  <a:latin typeface="Arcade Gamer"/>
                  <a:ea typeface="Arcade Gamer"/>
                </a:rPr>
                <a:t>03</a:t>
              </a:r>
              <a:endParaRPr b="0" lang="es-CL" sz="3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37" name="Group 8"/>
          <p:cNvGrpSpPr/>
          <p:nvPr/>
        </p:nvGrpSpPr>
        <p:grpSpPr>
          <a:xfrm>
            <a:off x="6363360" y="5613120"/>
            <a:ext cx="1387080" cy="1582200"/>
            <a:chOff x="6363360" y="5613120"/>
            <a:chExt cx="1387080" cy="1582200"/>
          </a:xfrm>
        </p:grpSpPr>
        <p:sp>
          <p:nvSpPr>
            <p:cNvPr id="138" name="Freeform 9"/>
            <p:cNvSpPr/>
            <p:nvPr/>
          </p:nvSpPr>
          <p:spPr>
            <a:xfrm>
              <a:off x="6363360" y="5808240"/>
              <a:ext cx="1387080" cy="1387080"/>
            </a:xfrm>
            <a:custGeom>
              <a:avLst/>
              <a:gdLst>
                <a:gd name="textAreaLeft" fmla="*/ 0 w 1387080"/>
                <a:gd name="textAreaRight" fmla="*/ 1387440 w 1387080"/>
                <a:gd name="textAreaTop" fmla="*/ 0 h 1387080"/>
                <a:gd name="textAreaBottom" fmla="*/ 1387440 h 1387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noFill/>
            <a:ln cap="sq" w="38100">
              <a:solidFill>
                <a:srgbClr val="9e77f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9" name="TextBox 10"/>
            <p:cNvSpPr/>
            <p:nvPr/>
          </p:nvSpPr>
          <p:spPr>
            <a:xfrm>
              <a:off x="6363360" y="5613120"/>
              <a:ext cx="1387080" cy="1582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318"/>
                </a:lnSpc>
              </a:pPr>
              <a:r>
                <a:rPr b="0" lang="en-US" sz="3800" spc="-1" strike="noStrike">
                  <a:solidFill>
                    <a:srgbClr val="ffde59"/>
                  </a:solidFill>
                  <a:latin typeface="Arcade Gamer"/>
                  <a:ea typeface="Arcade Gamer"/>
                </a:rPr>
                <a:t>02</a:t>
              </a:r>
              <a:endParaRPr b="0" lang="es-CL" sz="3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0" name="Group 11"/>
          <p:cNvGrpSpPr/>
          <p:nvPr/>
        </p:nvGrpSpPr>
        <p:grpSpPr>
          <a:xfrm>
            <a:off x="10380600" y="5613120"/>
            <a:ext cx="1387080" cy="1582200"/>
            <a:chOff x="10380600" y="5613120"/>
            <a:chExt cx="1387080" cy="1582200"/>
          </a:xfrm>
        </p:grpSpPr>
        <p:sp>
          <p:nvSpPr>
            <p:cNvPr id="141" name="Freeform 12"/>
            <p:cNvSpPr/>
            <p:nvPr/>
          </p:nvSpPr>
          <p:spPr>
            <a:xfrm>
              <a:off x="10380600" y="5808240"/>
              <a:ext cx="1387080" cy="1387080"/>
            </a:xfrm>
            <a:custGeom>
              <a:avLst/>
              <a:gdLst>
                <a:gd name="textAreaLeft" fmla="*/ 0 w 1387080"/>
                <a:gd name="textAreaRight" fmla="*/ 1387440 w 1387080"/>
                <a:gd name="textAreaTop" fmla="*/ 0 h 1387080"/>
                <a:gd name="textAreaBottom" fmla="*/ 1387440 h 1387080"/>
              </a:gdLst>
              <a:ahLst/>
              <a:rect l="textAreaLeft" t="textAreaTop" r="textAreaRight" b="textAreaBottom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noFill/>
            <a:ln cap="sq" w="38100">
              <a:solidFill>
                <a:srgbClr val="9e77f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2" name="TextBox 13"/>
            <p:cNvSpPr/>
            <p:nvPr/>
          </p:nvSpPr>
          <p:spPr>
            <a:xfrm>
              <a:off x="10380600" y="5613120"/>
              <a:ext cx="1387080" cy="1582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318"/>
                </a:lnSpc>
              </a:pPr>
              <a:r>
                <a:rPr b="0" lang="en-US" sz="3800" spc="-1" strike="noStrike">
                  <a:solidFill>
                    <a:srgbClr val="ffde59"/>
                  </a:solidFill>
                  <a:latin typeface="Arcade Gamer"/>
                  <a:ea typeface="Arcade Gamer"/>
                </a:rPr>
                <a:t>04</a:t>
              </a:r>
              <a:endParaRPr b="0" lang="es-CL" sz="3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143" name="TextBox 14"/>
          <p:cNvSpPr/>
          <p:nvPr/>
        </p:nvSpPr>
        <p:spPr>
          <a:xfrm>
            <a:off x="1028880" y="503280"/>
            <a:ext cx="14825880" cy="15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6012"/>
              </a:lnSpc>
            </a:pPr>
            <a:r>
              <a:rPr b="0" lang="en-US" sz="4290" spc="-1" strike="noStrike">
                <a:solidFill>
                  <a:srgbClr val="ffde59"/>
                </a:solidFill>
                <a:latin typeface="Arcade Gamer"/>
                <a:ea typeface="Arcade Gamer"/>
              </a:rPr>
              <a:t>DESARROLLO DEL PROYECTO</a:t>
            </a:r>
            <a:endParaRPr b="0" lang="es-CL" sz="429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6012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5"/>
          <p:cNvSpPr/>
          <p:nvPr/>
        </p:nvSpPr>
        <p:spPr>
          <a:xfrm>
            <a:off x="3080160" y="2884320"/>
            <a:ext cx="278388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648"/>
              </a:lnSpc>
            </a:pPr>
            <a:r>
              <a:rPr b="0" lang="en-US" sz="2610" spc="-1" strike="noStrike">
                <a:solidFill>
                  <a:srgbClr val="ffde59"/>
                </a:solidFill>
                <a:latin typeface="Arcade Gamer"/>
                <a:ea typeface="Arcade Gamer"/>
              </a:rPr>
              <a:t>FASE 1</a:t>
            </a:r>
            <a:endParaRPr b="0" lang="es-CL" sz="26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Box 16"/>
          <p:cNvSpPr/>
          <p:nvPr/>
        </p:nvSpPr>
        <p:spPr>
          <a:xfrm>
            <a:off x="583560" y="3307320"/>
            <a:ext cx="5280480" cy="11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078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Definición del proyecto, objetivos, requisitos, arquitectura, backlog y planificación.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Box 17"/>
          <p:cNvSpPr/>
          <p:nvPr/>
        </p:nvSpPr>
        <p:spPr>
          <a:xfrm>
            <a:off x="12189240" y="3307320"/>
            <a:ext cx="5512320" cy="78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78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Simulación, Agentes, Nexos, recursos, interfaz y representación visual.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Box 18"/>
          <p:cNvSpPr/>
          <p:nvPr/>
        </p:nvSpPr>
        <p:spPr>
          <a:xfrm>
            <a:off x="583560" y="6153480"/>
            <a:ext cx="5280480" cy="78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078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Diseño e implementación del lenguaje de programación y del intérprete base.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19"/>
          <p:cNvSpPr/>
          <p:nvPr/>
        </p:nvSpPr>
        <p:spPr>
          <a:xfrm>
            <a:off x="12187080" y="6544080"/>
            <a:ext cx="5224680" cy="78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78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Niveles, pruebas funcionales, playtests, mejoras y versión final.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Box 20"/>
          <p:cNvSpPr/>
          <p:nvPr/>
        </p:nvSpPr>
        <p:spPr>
          <a:xfrm>
            <a:off x="2736360" y="5703840"/>
            <a:ext cx="312768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648"/>
              </a:lnSpc>
            </a:pPr>
            <a:r>
              <a:rPr b="0" lang="en-US" sz="2610" spc="-1" strike="noStrike">
                <a:solidFill>
                  <a:srgbClr val="ffde59"/>
                </a:solidFill>
                <a:latin typeface="Arcade Gamer"/>
                <a:ea typeface="Arcade Gamer"/>
              </a:rPr>
              <a:t>FASE 2: LdP</a:t>
            </a:r>
            <a:endParaRPr b="0" lang="es-CL" sz="26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Box 21"/>
          <p:cNvSpPr/>
          <p:nvPr/>
        </p:nvSpPr>
        <p:spPr>
          <a:xfrm>
            <a:off x="12189240" y="2886120"/>
            <a:ext cx="331884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648"/>
              </a:lnSpc>
            </a:pPr>
            <a:r>
              <a:rPr b="0" lang="en-US" sz="2610" spc="-1" strike="noStrike">
                <a:solidFill>
                  <a:srgbClr val="ffde59"/>
                </a:solidFill>
                <a:latin typeface="Arcade Gamer"/>
                <a:ea typeface="Arcade Gamer"/>
              </a:rPr>
              <a:t>FASE 2: Simulación</a:t>
            </a:r>
            <a:endParaRPr b="0" lang="es-CL" sz="26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22"/>
          <p:cNvSpPr/>
          <p:nvPr/>
        </p:nvSpPr>
        <p:spPr>
          <a:xfrm>
            <a:off x="12125160" y="5801040"/>
            <a:ext cx="5514840" cy="46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648"/>
              </a:lnSpc>
            </a:pPr>
            <a:r>
              <a:rPr b="0" lang="en-US" sz="2610" spc="-1" strike="noStrike">
                <a:solidFill>
                  <a:srgbClr val="ffde59"/>
                </a:solidFill>
                <a:latin typeface="Arcade Gamer"/>
                <a:ea typeface="Arcade Gamer"/>
              </a:rPr>
              <a:t>FASE 2: Integración y Validación</a:t>
            </a:r>
            <a:endParaRPr b="0" lang="es-CL" sz="26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Freeform 23"/>
          <p:cNvSpPr/>
          <p:nvPr/>
        </p:nvSpPr>
        <p:spPr>
          <a:xfrm>
            <a:off x="15473160" y="479520"/>
            <a:ext cx="1785960" cy="295200"/>
          </a:xfrm>
          <a:custGeom>
            <a:avLst/>
            <a:gdLst>
              <a:gd name="textAreaLeft" fmla="*/ 0 w 1785960"/>
              <a:gd name="textAreaRight" fmla="*/ 1786320 w 1785960"/>
              <a:gd name="textAreaTop" fmla="*/ 0 h 295200"/>
              <a:gd name="textAreaBottom" fmla="*/ 295560 h 295200"/>
            </a:gdLst>
            <a:ahLst/>
            <a:rect l="textAreaLeft" t="textAreaTop" r="textAreaRight" b="textAreaBottom"/>
            <a:pathLst>
              <a:path w="1786268" h="295546">
                <a:moveTo>
                  <a:pt x="0" y="0"/>
                </a:moveTo>
                <a:lnTo>
                  <a:pt x="1786268" y="0"/>
                </a:lnTo>
                <a:lnTo>
                  <a:pt x="1786268" y="295546"/>
                </a:lnTo>
                <a:lnTo>
                  <a:pt x="0" y="29554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7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Picture 2" descr=""/>
          <p:cNvPicPr/>
          <p:nvPr/>
        </p:nvPicPr>
        <p:blipFill>
          <a:blip r:embed="rId1"/>
          <a:stretch/>
        </p:blipFill>
        <p:spPr>
          <a:xfrm>
            <a:off x="831600" y="6738480"/>
            <a:ext cx="1421280" cy="1615320"/>
          </a:xfrm>
          <a:prstGeom prst="rect">
            <a:avLst/>
          </a:prstGeom>
          <a:ln w="0">
            <a:noFill/>
          </a:ln>
        </p:spPr>
      </p:pic>
      <p:pic>
        <p:nvPicPr>
          <p:cNvPr id="154" name="Picture 3" descr=""/>
          <p:cNvPicPr/>
          <p:nvPr/>
        </p:nvPicPr>
        <p:blipFill>
          <a:blip r:embed="rId2"/>
          <a:stretch/>
        </p:blipFill>
        <p:spPr>
          <a:xfrm>
            <a:off x="15588000" y="1854720"/>
            <a:ext cx="1670760" cy="1935000"/>
          </a:xfrm>
          <a:prstGeom prst="rect">
            <a:avLst/>
          </a:prstGeom>
          <a:ln w="0">
            <a:noFill/>
          </a:ln>
        </p:spPr>
      </p:pic>
      <p:sp>
        <p:nvSpPr>
          <p:cNvPr id="155" name="TextBox 4"/>
          <p:cNvSpPr/>
          <p:nvPr/>
        </p:nvSpPr>
        <p:spPr>
          <a:xfrm>
            <a:off x="-7920" y="501120"/>
            <a:ext cx="7992000" cy="18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7132"/>
              </a:lnSpc>
            </a:pPr>
            <a:r>
              <a:rPr b="0" lang="en-US" sz="5090" spc="-1" strike="noStrike">
                <a:solidFill>
                  <a:srgbClr val="ffde59"/>
                </a:solidFill>
                <a:latin typeface="Arcade Gamer"/>
                <a:ea typeface="Arcade Gamer"/>
              </a:rPr>
              <a:t>OBJETIVOS DEL PROYECTO</a:t>
            </a:r>
            <a:endParaRPr b="0" lang="es-CL" sz="509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5"/>
          <p:cNvSpPr/>
          <p:nvPr/>
        </p:nvSpPr>
        <p:spPr>
          <a:xfrm>
            <a:off x="2739240" y="6563160"/>
            <a:ext cx="6204240" cy="271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132"/>
              </a:lnSpc>
            </a:pPr>
            <a:r>
              <a:rPr b="0" lang="en-US" sz="5090" spc="-1" strike="noStrike">
                <a:solidFill>
                  <a:srgbClr val="ffde59"/>
                </a:solidFill>
                <a:latin typeface="Arcade Gamer"/>
                <a:ea typeface="Arcade Gamer"/>
              </a:rPr>
              <a:t>OBJETIVOS ESPECÍFICOS</a:t>
            </a:r>
            <a:endParaRPr b="0" lang="es-CL" sz="509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7132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Box 6"/>
          <p:cNvSpPr/>
          <p:nvPr/>
        </p:nvSpPr>
        <p:spPr>
          <a:xfrm>
            <a:off x="9855000" y="1298880"/>
            <a:ext cx="5791320" cy="23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78"/>
              </a:lnSpc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Desarrollar Directiva, un videojuego educativo de estrategia y automatización que permita aprender y practicar programación mediante agentes autónomos en un entorno simulado.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078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Box 7"/>
          <p:cNvSpPr/>
          <p:nvPr/>
        </p:nvSpPr>
        <p:spPr>
          <a:xfrm>
            <a:off x="8728920" y="6681240"/>
            <a:ext cx="8952480" cy="23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Diseñar una arquitectura modular y desacoplada.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Desarrollar un lenguaje inspirado en Python y su intérprete.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Implementar simulación de Agentes, Nexos, recursos y combate.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Crear niveles para programar, ejecutar, observar y mejorar.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Validar mediante pruebas funcionales y playtests.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Freeform 8"/>
          <p:cNvSpPr/>
          <p:nvPr/>
        </p:nvSpPr>
        <p:spPr>
          <a:xfrm>
            <a:off x="15830640" y="479520"/>
            <a:ext cx="1428480" cy="295200"/>
          </a:xfrm>
          <a:custGeom>
            <a:avLst/>
            <a:gdLst>
              <a:gd name="textAreaLeft" fmla="*/ 0 w 1428480"/>
              <a:gd name="textAreaRight" fmla="*/ 1428840 w 1428480"/>
              <a:gd name="textAreaTop" fmla="*/ 0 h 295200"/>
              <a:gd name="textAreaBottom" fmla="*/ 295560 h 295200"/>
            </a:gdLst>
            <a:ahLst/>
            <a:rect l="textAreaLeft" t="textAreaTop" r="textAreaRight" b="textAreaBottom"/>
            <a:pathLst>
              <a:path w="1428750" h="295546">
                <a:moveTo>
                  <a:pt x="0" y="0"/>
                </a:moveTo>
                <a:lnTo>
                  <a:pt x="1428750" y="0"/>
                </a:lnTo>
                <a:lnTo>
                  <a:pt x="1428750" y="295546"/>
                </a:lnTo>
                <a:lnTo>
                  <a:pt x="0" y="29554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Freeform 9"/>
          <p:cNvSpPr/>
          <p:nvPr/>
        </p:nvSpPr>
        <p:spPr>
          <a:xfrm>
            <a:off x="-1778040" y="8491320"/>
            <a:ext cx="10506600" cy="1795320"/>
          </a:xfrm>
          <a:custGeom>
            <a:avLst/>
            <a:gdLst>
              <a:gd name="textAreaLeft" fmla="*/ 0 w 10506600"/>
              <a:gd name="textAreaRight" fmla="*/ 10506960 w 10506600"/>
              <a:gd name="textAreaTop" fmla="*/ 0 h 1795320"/>
              <a:gd name="textAreaBottom" fmla="*/ 1795680 h 1795320"/>
            </a:gdLst>
            <a:ahLst/>
            <a:rect l="textAreaLeft" t="textAreaTop" r="textAreaRight" b="textAreaBottom"/>
            <a:pathLst>
              <a:path w="10506879" h="1795721">
                <a:moveTo>
                  <a:pt x="0" y="0"/>
                </a:moveTo>
                <a:lnTo>
                  <a:pt x="10506879" y="0"/>
                </a:lnTo>
                <a:lnTo>
                  <a:pt x="10506879" y="1795721"/>
                </a:lnTo>
                <a:lnTo>
                  <a:pt x="0" y="179572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Freeform 10"/>
          <p:cNvSpPr/>
          <p:nvPr/>
        </p:nvSpPr>
        <p:spPr>
          <a:xfrm>
            <a:off x="9855000" y="4245480"/>
            <a:ext cx="10506600" cy="1795320"/>
          </a:xfrm>
          <a:custGeom>
            <a:avLst/>
            <a:gdLst>
              <a:gd name="textAreaLeft" fmla="*/ 0 w 10506600"/>
              <a:gd name="textAreaRight" fmla="*/ 10506960 w 10506600"/>
              <a:gd name="textAreaTop" fmla="*/ 0 h 1795320"/>
              <a:gd name="textAreaBottom" fmla="*/ 1795680 h 1795320"/>
            </a:gdLst>
            <a:ahLst/>
            <a:rect l="textAreaLeft" t="textAreaTop" r="textAreaRight" b="textAreaBottom"/>
            <a:pathLst>
              <a:path w="10506879" h="1795721">
                <a:moveTo>
                  <a:pt x="0" y="0"/>
                </a:moveTo>
                <a:lnTo>
                  <a:pt x="10506879" y="0"/>
                </a:lnTo>
                <a:lnTo>
                  <a:pt x="10506879" y="1795722"/>
                </a:lnTo>
                <a:lnTo>
                  <a:pt x="0" y="179572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7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Freeform 2"/>
          <p:cNvSpPr/>
          <p:nvPr/>
        </p:nvSpPr>
        <p:spPr>
          <a:xfrm>
            <a:off x="14760000" y="3557880"/>
            <a:ext cx="712800" cy="645480"/>
          </a:xfrm>
          <a:custGeom>
            <a:avLst/>
            <a:gdLst>
              <a:gd name="textAreaLeft" fmla="*/ 0 w 712800"/>
              <a:gd name="textAreaRight" fmla="*/ 713160 w 712800"/>
              <a:gd name="textAreaTop" fmla="*/ 0 h 645480"/>
              <a:gd name="textAreaBottom" fmla="*/ 645840 h 645480"/>
            </a:gdLst>
            <a:ahLst/>
            <a:rect l="textAreaLeft" t="textAreaTop" r="textAreaRight" b="textAreaBottom"/>
            <a:pathLst>
              <a:path w="713119" h="645697">
                <a:moveTo>
                  <a:pt x="0" y="0"/>
                </a:moveTo>
                <a:lnTo>
                  <a:pt x="713119" y="0"/>
                </a:lnTo>
                <a:lnTo>
                  <a:pt x="713119" y="645697"/>
                </a:lnTo>
                <a:lnTo>
                  <a:pt x="0" y="64569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Freeform 3"/>
          <p:cNvSpPr/>
          <p:nvPr/>
        </p:nvSpPr>
        <p:spPr>
          <a:xfrm>
            <a:off x="8868960" y="1028880"/>
            <a:ext cx="549360" cy="793440"/>
          </a:xfrm>
          <a:custGeom>
            <a:avLst/>
            <a:gdLst>
              <a:gd name="textAreaLeft" fmla="*/ 0 w 549360"/>
              <a:gd name="textAreaRight" fmla="*/ 549720 w 549360"/>
              <a:gd name="textAreaTop" fmla="*/ 0 h 793440"/>
              <a:gd name="textAreaBottom" fmla="*/ 793800 h 793440"/>
            </a:gdLst>
            <a:ahLst/>
            <a:rect l="textAreaLeft" t="textAreaTop" r="textAreaRight" b="textAreaBottom"/>
            <a:pathLst>
              <a:path w="549891" h="793806">
                <a:moveTo>
                  <a:pt x="0" y="0"/>
                </a:moveTo>
                <a:lnTo>
                  <a:pt x="549892" y="0"/>
                </a:lnTo>
                <a:lnTo>
                  <a:pt x="549892" y="793806"/>
                </a:lnTo>
                <a:lnTo>
                  <a:pt x="0" y="79380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Freeform 4"/>
          <p:cNvSpPr/>
          <p:nvPr/>
        </p:nvSpPr>
        <p:spPr>
          <a:xfrm>
            <a:off x="249480" y="5571000"/>
            <a:ext cx="734040" cy="568440"/>
          </a:xfrm>
          <a:custGeom>
            <a:avLst/>
            <a:gdLst>
              <a:gd name="textAreaLeft" fmla="*/ 0 w 734040"/>
              <a:gd name="textAreaRight" fmla="*/ 734400 w 734040"/>
              <a:gd name="textAreaTop" fmla="*/ 0 h 568440"/>
              <a:gd name="textAreaBottom" fmla="*/ 568800 h 568440"/>
            </a:gdLst>
            <a:ahLst/>
            <a:rect l="textAreaLeft" t="textAreaTop" r="textAreaRight" b="textAreaBottom"/>
            <a:pathLst>
              <a:path w="734257" h="568715">
                <a:moveTo>
                  <a:pt x="0" y="0"/>
                </a:moveTo>
                <a:lnTo>
                  <a:pt x="734257" y="0"/>
                </a:lnTo>
                <a:lnTo>
                  <a:pt x="734257" y="568715"/>
                </a:lnTo>
                <a:lnTo>
                  <a:pt x="0" y="56871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Freeform 5"/>
          <p:cNvSpPr/>
          <p:nvPr/>
        </p:nvSpPr>
        <p:spPr>
          <a:xfrm>
            <a:off x="10385640" y="8199360"/>
            <a:ext cx="498960" cy="525600"/>
          </a:xfrm>
          <a:custGeom>
            <a:avLst/>
            <a:gdLst>
              <a:gd name="textAreaLeft" fmla="*/ 0 w 498960"/>
              <a:gd name="textAreaRight" fmla="*/ 499320 w 498960"/>
              <a:gd name="textAreaTop" fmla="*/ 0 h 525600"/>
              <a:gd name="textAreaBottom" fmla="*/ 525960 h 525600"/>
            </a:gdLst>
            <a:ahLst/>
            <a:rect l="textAreaLeft" t="textAreaTop" r="textAreaRight" b="textAreaBottom"/>
            <a:pathLst>
              <a:path w="499172" h="525948">
                <a:moveTo>
                  <a:pt x="0" y="0"/>
                </a:moveTo>
                <a:lnTo>
                  <a:pt x="499173" y="0"/>
                </a:lnTo>
                <a:lnTo>
                  <a:pt x="499173" y="525948"/>
                </a:lnTo>
                <a:lnTo>
                  <a:pt x="0" y="52594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6"/>
          <p:cNvSpPr/>
          <p:nvPr/>
        </p:nvSpPr>
        <p:spPr>
          <a:xfrm>
            <a:off x="249480" y="6211800"/>
            <a:ext cx="2891520" cy="13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59"/>
              </a:lnSpc>
            </a:pPr>
            <a:r>
              <a:rPr b="0" lang="en-US" sz="1900" spc="-1" strike="noStrike">
                <a:solidFill>
                  <a:srgbClr val="ffffff"/>
                </a:solidFill>
                <a:latin typeface="Poppins"/>
                <a:ea typeface="Poppins"/>
              </a:rPr>
              <a:t>Arquitectura modular, Unity, C#, integración y mantenimiento.</a:t>
            </a:r>
            <a:endParaRPr b="0" lang="es-CL" sz="1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659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AutoShape 7"/>
          <p:cNvSpPr/>
          <p:nvPr/>
        </p:nvSpPr>
        <p:spPr>
          <a:xfrm>
            <a:off x="4042440" y="6786000"/>
            <a:ext cx="2491200" cy="360"/>
          </a:xfrm>
          <a:prstGeom prst="line">
            <a:avLst/>
          </a:prstGeom>
          <a:ln w="28575">
            <a:solidFill>
              <a:srgbClr val="ffde59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Freeform 8"/>
          <p:cNvSpPr/>
          <p:nvPr/>
        </p:nvSpPr>
        <p:spPr>
          <a:xfrm>
            <a:off x="15473160" y="479520"/>
            <a:ext cx="1785960" cy="295200"/>
          </a:xfrm>
          <a:custGeom>
            <a:avLst/>
            <a:gdLst>
              <a:gd name="textAreaLeft" fmla="*/ 0 w 1785960"/>
              <a:gd name="textAreaRight" fmla="*/ 1786320 w 1785960"/>
              <a:gd name="textAreaTop" fmla="*/ 0 h 295200"/>
              <a:gd name="textAreaBottom" fmla="*/ 295560 h 295200"/>
            </a:gdLst>
            <a:ahLst/>
            <a:rect l="textAreaLeft" t="textAreaTop" r="textAreaRight" b="textAreaBottom"/>
            <a:pathLst>
              <a:path w="1786268" h="295546">
                <a:moveTo>
                  <a:pt x="0" y="0"/>
                </a:moveTo>
                <a:lnTo>
                  <a:pt x="1786268" y="0"/>
                </a:lnTo>
                <a:lnTo>
                  <a:pt x="1786268" y="295546"/>
                </a:lnTo>
                <a:lnTo>
                  <a:pt x="0" y="29554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Freeform 9"/>
          <p:cNvSpPr/>
          <p:nvPr/>
        </p:nvSpPr>
        <p:spPr>
          <a:xfrm>
            <a:off x="4042800" y="3362040"/>
            <a:ext cx="9961920" cy="4417920"/>
          </a:xfrm>
          <a:custGeom>
            <a:avLst/>
            <a:gdLst>
              <a:gd name="textAreaLeft" fmla="*/ 0 w 9961920"/>
              <a:gd name="textAreaRight" fmla="*/ 9962280 w 9961920"/>
              <a:gd name="textAreaTop" fmla="*/ 0 h 4417920"/>
              <a:gd name="textAreaBottom" fmla="*/ 4418280 h 4417920"/>
            </a:gdLst>
            <a:ahLst/>
            <a:rect l="textAreaLeft" t="textAreaTop" r="textAreaRight" b="textAreaBottom"/>
            <a:pathLst>
              <a:path w="9962440" h="4418310">
                <a:moveTo>
                  <a:pt x="0" y="0"/>
                </a:moveTo>
                <a:lnTo>
                  <a:pt x="9962440" y="0"/>
                </a:lnTo>
                <a:lnTo>
                  <a:pt x="9962440" y="4418310"/>
                </a:lnTo>
                <a:lnTo>
                  <a:pt x="0" y="44183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10"/>
          <p:cNvSpPr/>
          <p:nvPr/>
        </p:nvSpPr>
        <p:spPr>
          <a:xfrm>
            <a:off x="8868960" y="1936080"/>
            <a:ext cx="5029560" cy="6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59"/>
              </a:lnSpc>
            </a:pPr>
            <a:r>
              <a:rPr b="0" lang="en-US" sz="1900" spc="-1" strike="noStrike">
                <a:solidFill>
                  <a:srgbClr val="ffffff"/>
                </a:solidFill>
                <a:latin typeface="Poppins"/>
                <a:ea typeface="Poppins"/>
              </a:rPr>
              <a:t>Scrum, planificación, riesgos y seguimiento.</a:t>
            </a:r>
            <a:endParaRPr b="0" lang="es-CL" sz="1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659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Box 11"/>
          <p:cNvSpPr/>
          <p:nvPr/>
        </p:nvSpPr>
        <p:spPr>
          <a:xfrm>
            <a:off x="14920200" y="4298760"/>
            <a:ext cx="3128040" cy="13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59"/>
              </a:lnSpc>
            </a:pPr>
            <a:r>
              <a:rPr b="0" lang="en-US" sz="1900" spc="-1" strike="noStrike">
                <a:solidFill>
                  <a:srgbClr val="ffffff"/>
                </a:solidFill>
                <a:latin typeface="Poppins"/>
                <a:ea typeface="Poppins"/>
              </a:rPr>
              <a:t>Agentes, Nexos, programas, recursos, estados y progreso.</a:t>
            </a:r>
            <a:endParaRPr b="0" lang="es-CL" sz="1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659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Box 12"/>
          <p:cNvSpPr/>
          <p:nvPr/>
        </p:nvSpPr>
        <p:spPr>
          <a:xfrm>
            <a:off x="10385640" y="8831520"/>
            <a:ext cx="4603680" cy="101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59"/>
              </a:lnSpc>
            </a:pPr>
            <a:r>
              <a:rPr b="0" lang="en-US" sz="1900" spc="-1" strike="noStrike">
                <a:solidFill>
                  <a:srgbClr val="ffffff"/>
                </a:solidFill>
                <a:latin typeface="Poppins"/>
                <a:ea typeface="Poppins"/>
              </a:rPr>
              <a:t>Pruebas funcionales, integración, playtests y mejoras.</a:t>
            </a:r>
            <a:endParaRPr b="0" lang="es-CL" sz="19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659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Box 13"/>
          <p:cNvSpPr/>
          <p:nvPr/>
        </p:nvSpPr>
        <p:spPr>
          <a:xfrm>
            <a:off x="9650880" y="1437840"/>
            <a:ext cx="4536000" cy="3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48"/>
              </a:lnSpc>
            </a:pPr>
            <a:r>
              <a:rPr b="0" lang="en-US" sz="2110" spc="-1" strike="noStrike">
                <a:solidFill>
                  <a:srgbClr val="ffde59"/>
                </a:solidFill>
                <a:latin typeface="Arcade Gamer"/>
                <a:ea typeface="Arcade Gamer"/>
              </a:rPr>
              <a:t>GESTIÓN DE PROYECTOS</a:t>
            </a:r>
            <a:endParaRPr b="0" lang="es-CL" sz="21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4"/>
          <p:cNvSpPr/>
          <p:nvPr/>
        </p:nvSpPr>
        <p:spPr>
          <a:xfrm>
            <a:off x="15594480" y="3491280"/>
            <a:ext cx="245376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48"/>
              </a:lnSpc>
            </a:pPr>
            <a:r>
              <a:rPr b="0" lang="en-US" sz="2110" spc="-1" strike="noStrike">
                <a:solidFill>
                  <a:srgbClr val="ffde59"/>
                </a:solidFill>
                <a:latin typeface="Arcade Gamer"/>
                <a:ea typeface="Arcade Gamer"/>
              </a:rPr>
              <a:t>MODELOS DE DATOS</a:t>
            </a:r>
            <a:endParaRPr b="0" lang="es-CL" sz="21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Box 15"/>
          <p:cNvSpPr/>
          <p:nvPr/>
        </p:nvSpPr>
        <p:spPr>
          <a:xfrm>
            <a:off x="11026800" y="8132760"/>
            <a:ext cx="3773880" cy="3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48"/>
              </a:lnSpc>
            </a:pPr>
            <a:r>
              <a:rPr b="0" lang="en-US" sz="2110" spc="-1" strike="noStrike">
                <a:solidFill>
                  <a:srgbClr val="ffde59"/>
                </a:solidFill>
                <a:latin typeface="Arcade Gamer"/>
                <a:ea typeface="Arcade Gamer"/>
              </a:rPr>
              <a:t>CALIDAD Y CERTIFICACIÓN</a:t>
            </a:r>
            <a:endParaRPr b="0" lang="es-CL" sz="21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Box 16"/>
          <p:cNvSpPr/>
          <p:nvPr/>
        </p:nvSpPr>
        <p:spPr>
          <a:xfrm>
            <a:off x="1028880" y="5504400"/>
            <a:ext cx="322200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48"/>
              </a:lnSpc>
            </a:pPr>
            <a:r>
              <a:rPr b="0" lang="en-US" sz="2110" spc="-1" strike="noStrike">
                <a:solidFill>
                  <a:srgbClr val="ffde59"/>
                </a:solidFill>
                <a:latin typeface="Arcade Gamer"/>
                <a:ea typeface="Arcade Gamer"/>
              </a:rPr>
              <a:t>DESARROLLO DE SOFTWARE</a:t>
            </a:r>
            <a:endParaRPr b="0" lang="es-CL" sz="21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7"/>
          <p:cNvSpPr/>
          <p:nvPr/>
        </p:nvSpPr>
        <p:spPr>
          <a:xfrm>
            <a:off x="819000" y="885960"/>
            <a:ext cx="6784200" cy="18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7132"/>
              </a:lnSpc>
            </a:pPr>
            <a:r>
              <a:rPr b="0" lang="en-US" sz="5090" spc="-1" strike="noStrike">
                <a:solidFill>
                  <a:srgbClr val="ffde59"/>
                </a:solidFill>
                <a:latin typeface="Arcade Gamer"/>
                <a:ea typeface="Arcade Gamer"/>
              </a:rPr>
              <a:t>COMPETENCIAS APLICADAS</a:t>
            </a:r>
            <a:endParaRPr b="0" lang="es-CL" sz="509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7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2"/>
          <p:cNvSpPr/>
          <p:nvPr/>
        </p:nvSpPr>
        <p:spPr>
          <a:xfrm>
            <a:off x="4527360" y="703440"/>
            <a:ext cx="9233280" cy="90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7132"/>
              </a:lnSpc>
            </a:pPr>
            <a:r>
              <a:rPr b="0" lang="en-US" sz="5090" spc="-1" strike="noStrike">
                <a:solidFill>
                  <a:srgbClr val="ffde59"/>
                </a:solidFill>
                <a:latin typeface="Arcade Gamer"/>
                <a:ea typeface="Arcade Gamer"/>
              </a:rPr>
              <a:t>NUESTRO EQUIPO</a:t>
            </a:r>
            <a:endParaRPr b="0" lang="es-CL" sz="509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Freeform 3"/>
          <p:cNvSpPr/>
          <p:nvPr/>
        </p:nvSpPr>
        <p:spPr>
          <a:xfrm>
            <a:off x="13621320" y="937440"/>
            <a:ext cx="592920" cy="592920"/>
          </a:xfrm>
          <a:custGeom>
            <a:avLst/>
            <a:gdLst>
              <a:gd name="textAreaLeft" fmla="*/ 0 w 592920"/>
              <a:gd name="textAreaRight" fmla="*/ 593280 w 592920"/>
              <a:gd name="textAreaTop" fmla="*/ 0 h 592920"/>
              <a:gd name="textAreaBottom" fmla="*/ 593280 h 592920"/>
            </a:gdLst>
            <a:ahLst/>
            <a:rect l="textAreaLeft" t="textAreaTop" r="textAreaRight" b="textAreaBottom"/>
            <a:pathLst>
              <a:path w="593181" h="593181">
                <a:moveTo>
                  <a:pt x="0" y="0"/>
                </a:moveTo>
                <a:lnTo>
                  <a:pt x="593181" y="0"/>
                </a:lnTo>
                <a:lnTo>
                  <a:pt x="593181" y="593181"/>
                </a:lnTo>
                <a:lnTo>
                  <a:pt x="0" y="5931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Freeform 4"/>
          <p:cNvSpPr/>
          <p:nvPr/>
        </p:nvSpPr>
        <p:spPr>
          <a:xfrm>
            <a:off x="3934080" y="937440"/>
            <a:ext cx="592920" cy="592920"/>
          </a:xfrm>
          <a:custGeom>
            <a:avLst/>
            <a:gdLst>
              <a:gd name="textAreaLeft" fmla="*/ 0 w 592920"/>
              <a:gd name="textAreaRight" fmla="*/ 593280 w 592920"/>
              <a:gd name="textAreaTop" fmla="*/ 0 h 592920"/>
              <a:gd name="textAreaBottom" fmla="*/ 593280 h 592920"/>
            </a:gdLst>
            <a:ahLst/>
            <a:rect l="textAreaLeft" t="textAreaTop" r="textAreaRight" b="textAreaBottom"/>
            <a:pathLst>
              <a:path w="593181" h="593181">
                <a:moveTo>
                  <a:pt x="0" y="0"/>
                </a:moveTo>
                <a:lnTo>
                  <a:pt x="593181" y="0"/>
                </a:lnTo>
                <a:lnTo>
                  <a:pt x="593181" y="593181"/>
                </a:lnTo>
                <a:lnTo>
                  <a:pt x="0" y="5931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Freeform 5"/>
          <p:cNvSpPr/>
          <p:nvPr/>
        </p:nvSpPr>
        <p:spPr>
          <a:xfrm>
            <a:off x="15830640" y="479520"/>
            <a:ext cx="1428480" cy="295200"/>
          </a:xfrm>
          <a:custGeom>
            <a:avLst/>
            <a:gdLst>
              <a:gd name="textAreaLeft" fmla="*/ 0 w 1428480"/>
              <a:gd name="textAreaRight" fmla="*/ 1428840 w 1428480"/>
              <a:gd name="textAreaTop" fmla="*/ 0 h 295200"/>
              <a:gd name="textAreaBottom" fmla="*/ 295560 h 295200"/>
            </a:gdLst>
            <a:ahLst/>
            <a:rect l="textAreaLeft" t="textAreaTop" r="textAreaRight" b="textAreaBottom"/>
            <a:pathLst>
              <a:path w="1428750" h="295546">
                <a:moveTo>
                  <a:pt x="0" y="0"/>
                </a:moveTo>
                <a:lnTo>
                  <a:pt x="1428750" y="0"/>
                </a:lnTo>
                <a:lnTo>
                  <a:pt x="1428750" y="295546"/>
                </a:lnTo>
                <a:lnTo>
                  <a:pt x="0" y="29554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Freeform 6"/>
          <p:cNvSpPr/>
          <p:nvPr/>
        </p:nvSpPr>
        <p:spPr>
          <a:xfrm>
            <a:off x="1564560" y="3920040"/>
            <a:ext cx="6310080" cy="5272560"/>
          </a:xfrm>
          <a:custGeom>
            <a:avLst/>
            <a:gdLst>
              <a:gd name="textAreaLeft" fmla="*/ 0 w 6310080"/>
              <a:gd name="textAreaRight" fmla="*/ 6310440 w 6310080"/>
              <a:gd name="textAreaTop" fmla="*/ 0 h 5272560"/>
              <a:gd name="textAreaBottom" fmla="*/ 5272920 h 5272560"/>
            </a:gdLst>
            <a:ahLst/>
            <a:rect l="textAreaLeft" t="textAreaTop" r="textAreaRight" b="textAreaBottom"/>
            <a:pathLst>
              <a:path w="6310549" h="5272966">
                <a:moveTo>
                  <a:pt x="0" y="0"/>
                </a:moveTo>
                <a:lnTo>
                  <a:pt x="6310549" y="0"/>
                </a:lnTo>
                <a:lnTo>
                  <a:pt x="6310549" y="5272965"/>
                </a:lnTo>
                <a:lnTo>
                  <a:pt x="0" y="527296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Freeform 7"/>
          <p:cNvSpPr/>
          <p:nvPr/>
        </p:nvSpPr>
        <p:spPr>
          <a:xfrm>
            <a:off x="10707840" y="4015440"/>
            <a:ext cx="4888080" cy="4888080"/>
          </a:xfrm>
          <a:custGeom>
            <a:avLst/>
            <a:gdLst>
              <a:gd name="textAreaLeft" fmla="*/ 0 w 4888080"/>
              <a:gd name="textAreaRight" fmla="*/ 4888440 w 4888080"/>
              <a:gd name="textAreaTop" fmla="*/ 0 h 4888080"/>
              <a:gd name="textAreaBottom" fmla="*/ 4888440 h 4888080"/>
            </a:gdLst>
            <a:ahLst/>
            <a:rect l="textAreaLeft" t="textAreaTop" r="textAreaRight" b="textAreaBottom"/>
            <a:pathLst>
              <a:path w="4888327" h="4888327">
                <a:moveTo>
                  <a:pt x="0" y="0"/>
                </a:moveTo>
                <a:lnTo>
                  <a:pt x="4888327" y="0"/>
                </a:lnTo>
                <a:lnTo>
                  <a:pt x="4888327" y="4888327"/>
                </a:lnTo>
                <a:lnTo>
                  <a:pt x="0" y="488832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8"/>
          <p:cNvSpPr/>
          <p:nvPr/>
        </p:nvSpPr>
        <p:spPr>
          <a:xfrm>
            <a:off x="11416320" y="3164040"/>
            <a:ext cx="347112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948"/>
              </a:lnSpc>
            </a:pPr>
            <a:r>
              <a:rPr b="0" lang="en-US" sz="2110" spc="-1" strike="noStrike">
                <a:solidFill>
                  <a:srgbClr val="ffde59"/>
                </a:solidFill>
                <a:latin typeface="Arcade Gamer"/>
                <a:ea typeface="Arcade Gamer"/>
              </a:rPr>
              <a:t>JEFE DE PROYECTO</a:t>
            </a:r>
            <a:endParaRPr b="0" lang="es-CL" sz="211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2948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11416320" y="2749320"/>
            <a:ext cx="3318840" cy="3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948"/>
              </a:lnSpc>
            </a:pPr>
            <a:r>
              <a:rPr b="0" lang="en-US" sz="2110" spc="-1" strike="noStrike">
                <a:solidFill>
                  <a:srgbClr val="ffde59"/>
                </a:solidFill>
                <a:latin typeface="Arcade Gamer"/>
                <a:ea typeface="Arcade Gamer"/>
              </a:rPr>
              <a:t>ÁLVARO CASTRO</a:t>
            </a:r>
            <a:endParaRPr b="0" lang="es-CL" sz="211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Box 10"/>
          <p:cNvSpPr/>
          <p:nvPr/>
        </p:nvSpPr>
        <p:spPr>
          <a:xfrm>
            <a:off x="1564560" y="3067560"/>
            <a:ext cx="592524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948"/>
              </a:lnSpc>
            </a:pPr>
            <a:r>
              <a:rPr b="0" lang="en-US" sz="2110" spc="-1" strike="noStrike">
                <a:solidFill>
                  <a:srgbClr val="ffde59"/>
                </a:solidFill>
                <a:latin typeface="Arcade Gamer"/>
                <a:ea typeface="Arcade Gamer"/>
              </a:rPr>
              <a:t>LÍDER TÉCNICO Y DESARROLLADOR PRINCIPAL</a:t>
            </a:r>
            <a:endParaRPr b="0" lang="es-CL" sz="211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ts val="2948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2562840" y="2749320"/>
            <a:ext cx="3927960" cy="3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948"/>
              </a:lnSpc>
            </a:pPr>
            <a:r>
              <a:rPr b="0" lang="en-US" sz="2110" spc="-1" strike="noStrike">
                <a:solidFill>
                  <a:srgbClr val="ffde59"/>
                </a:solidFill>
                <a:latin typeface="Arcade Gamer"/>
                <a:ea typeface="Arcade Gamer"/>
              </a:rPr>
              <a:t>ANGEL ROJAS</a:t>
            </a:r>
            <a:endParaRPr b="0" lang="es-CL" sz="211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7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2" descr=""/>
          <p:cNvPicPr/>
          <p:nvPr/>
        </p:nvPicPr>
        <p:blipFill>
          <a:blip r:embed="rId1"/>
          <a:stretch/>
        </p:blipFill>
        <p:spPr>
          <a:xfrm>
            <a:off x="831600" y="6738480"/>
            <a:ext cx="1421280" cy="1615320"/>
          </a:xfrm>
          <a:prstGeom prst="rect">
            <a:avLst/>
          </a:prstGeom>
          <a:ln w="0">
            <a:noFill/>
          </a:ln>
        </p:spPr>
      </p:pic>
      <p:pic>
        <p:nvPicPr>
          <p:cNvPr id="189" name="Picture 3" descr=""/>
          <p:cNvPicPr/>
          <p:nvPr/>
        </p:nvPicPr>
        <p:blipFill>
          <a:blip r:embed="rId2"/>
          <a:stretch/>
        </p:blipFill>
        <p:spPr>
          <a:xfrm>
            <a:off x="15588000" y="1854720"/>
            <a:ext cx="1670760" cy="1935000"/>
          </a:xfrm>
          <a:prstGeom prst="rect">
            <a:avLst/>
          </a:prstGeom>
          <a:ln w="0">
            <a:noFill/>
          </a:ln>
        </p:spPr>
      </p:pic>
      <p:sp>
        <p:nvSpPr>
          <p:cNvPr id="190" name="TextBox 4"/>
          <p:cNvSpPr/>
          <p:nvPr/>
        </p:nvSpPr>
        <p:spPr>
          <a:xfrm>
            <a:off x="-7920" y="501120"/>
            <a:ext cx="7992000" cy="18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7132"/>
              </a:lnSpc>
            </a:pPr>
            <a:r>
              <a:rPr b="0" lang="en-US" sz="5090" spc="-1" strike="noStrike">
                <a:solidFill>
                  <a:srgbClr val="ffde59"/>
                </a:solidFill>
                <a:latin typeface="Arcade Gamer"/>
                <a:ea typeface="Arcade Gamer"/>
              </a:rPr>
              <a:t>FACTIBILIDAD DEL PROYECTO</a:t>
            </a:r>
            <a:endParaRPr b="0" lang="es-CL" sz="509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Box 5"/>
          <p:cNvSpPr/>
          <p:nvPr/>
        </p:nvSpPr>
        <p:spPr>
          <a:xfrm>
            <a:off x="2739240" y="6563160"/>
            <a:ext cx="6204240" cy="271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132"/>
              </a:lnSpc>
            </a:pPr>
            <a:r>
              <a:rPr b="0" lang="en-US" sz="5090" spc="-1" strike="noStrike">
                <a:solidFill>
                  <a:srgbClr val="ffde59"/>
                </a:solidFill>
                <a:latin typeface="Arcade Gamer"/>
                <a:ea typeface="Arcade Gamer"/>
              </a:rPr>
              <a:t>RIESGOS Y MITIGACIÓN</a:t>
            </a:r>
            <a:endParaRPr b="0" lang="es-CL" sz="509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7132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Box 6"/>
          <p:cNvSpPr/>
          <p:nvPr/>
        </p:nvSpPr>
        <p:spPr>
          <a:xfrm>
            <a:off x="8728920" y="6681240"/>
            <a:ext cx="8952480" cy="23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Intérprete y lenguaje: prototipo temprano y pruebas aisladas.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Integración de sistemas: arquitectura modular.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Usabilidad: mockups y playtests.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Rendimiento: simulación separada de la capa visual.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Alcance: priorización continua del backlog.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078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Freeform 7"/>
          <p:cNvSpPr/>
          <p:nvPr/>
        </p:nvSpPr>
        <p:spPr>
          <a:xfrm>
            <a:off x="15830640" y="479520"/>
            <a:ext cx="1428480" cy="295200"/>
          </a:xfrm>
          <a:custGeom>
            <a:avLst/>
            <a:gdLst>
              <a:gd name="textAreaLeft" fmla="*/ 0 w 1428480"/>
              <a:gd name="textAreaRight" fmla="*/ 1428840 w 1428480"/>
              <a:gd name="textAreaTop" fmla="*/ 0 h 295200"/>
              <a:gd name="textAreaBottom" fmla="*/ 295560 h 295200"/>
            </a:gdLst>
            <a:ahLst/>
            <a:rect l="textAreaLeft" t="textAreaTop" r="textAreaRight" b="textAreaBottom"/>
            <a:pathLst>
              <a:path w="1428750" h="295546">
                <a:moveTo>
                  <a:pt x="0" y="0"/>
                </a:moveTo>
                <a:lnTo>
                  <a:pt x="1428750" y="0"/>
                </a:lnTo>
                <a:lnTo>
                  <a:pt x="1428750" y="295546"/>
                </a:lnTo>
                <a:lnTo>
                  <a:pt x="0" y="29554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Freeform 8"/>
          <p:cNvSpPr/>
          <p:nvPr/>
        </p:nvSpPr>
        <p:spPr>
          <a:xfrm>
            <a:off x="-1778040" y="8491320"/>
            <a:ext cx="10506600" cy="1795320"/>
          </a:xfrm>
          <a:custGeom>
            <a:avLst/>
            <a:gdLst>
              <a:gd name="textAreaLeft" fmla="*/ 0 w 10506600"/>
              <a:gd name="textAreaRight" fmla="*/ 10506960 w 10506600"/>
              <a:gd name="textAreaTop" fmla="*/ 0 h 1795320"/>
              <a:gd name="textAreaBottom" fmla="*/ 1795680 h 1795320"/>
            </a:gdLst>
            <a:ahLst/>
            <a:rect l="textAreaLeft" t="textAreaTop" r="textAreaRight" b="textAreaBottom"/>
            <a:pathLst>
              <a:path w="10506879" h="1795721">
                <a:moveTo>
                  <a:pt x="0" y="0"/>
                </a:moveTo>
                <a:lnTo>
                  <a:pt x="10506879" y="0"/>
                </a:lnTo>
                <a:lnTo>
                  <a:pt x="10506879" y="1795721"/>
                </a:lnTo>
                <a:lnTo>
                  <a:pt x="0" y="179572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Freeform 9"/>
          <p:cNvSpPr/>
          <p:nvPr/>
        </p:nvSpPr>
        <p:spPr>
          <a:xfrm>
            <a:off x="9855000" y="4245480"/>
            <a:ext cx="10506600" cy="1795320"/>
          </a:xfrm>
          <a:custGeom>
            <a:avLst/>
            <a:gdLst>
              <a:gd name="textAreaLeft" fmla="*/ 0 w 10506600"/>
              <a:gd name="textAreaRight" fmla="*/ 10506960 w 10506600"/>
              <a:gd name="textAreaTop" fmla="*/ 0 h 1795320"/>
              <a:gd name="textAreaBottom" fmla="*/ 1795680 h 1795320"/>
            </a:gdLst>
            <a:ahLst/>
            <a:rect l="textAreaLeft" t="textAreaTop" r="textAreaRight" b="textAreaBottom"/>
            <a:pathLst>
              <a:path w="10506879" h="1795721">
                <a:moveTo>
                  <a:pt x="0" y="0"/>
                </a:moveTo>
                <a:lnTo>
                  <a:pt x="10506879" y="0"/>
                </a:lnTo>
                <a:lnTo>
                  <a:pt x="10506879" y="1795722"/>
                </a:lnTo>
                <a:lnTo>
                  <a:pt x="0" y="179572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10"/>
          <p:cNvSpPr/>
          <p:nvPr/>
        </p:nvSpPr>
        <p:spPr>
          <a:xfrm>
            <a:off x="8306640" y="1426320"/>
            <a:ext cx="7523640" cy="273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Alcance incremental y MVP definido.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Roles y responsabilidades claros.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Tecnologías conocidas: Unity y C#.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Desarrollo con Scrum y repositorio.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lvl="1" marL="474840" indent="-237600" defTabSz="914400">
              <a:lnSpc>
                <a:spcPts val="3078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2200" spc="-1" strike="noStrike">
                <a:solidFill>
                  <a:srgbClr val="ffffff"/>
                </a:solidFill>
                <a:latin typeface="Poppins"/>
                <a:ea typeface="Poppins"/>
              </a:rPr>
              <a:t>Diseño visual minimalista para reducir producción artística.</a:t>
            </a:r>
            <a:endParaRPr b="0" lang="es-CL" sz="2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3078"/>
              </a:lnSpc>
            </a:pPr>
            <a:endParaRPr b="0" lang="es-CL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7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Freeform 2"/>
          <p:cNvSpPr/>
          <p:nvPr/>
        </p:nvSpPr>
        <p:spPr>
          <a:xfrm>
            <a:off x="16572600" y="479520"/>
            <a:ext cx="686520" cy="290880"/>
          </a:xfrm>
          <a:custGeom>
            <a:avLst/>
            <a:gdLst>
              <a:gd name="textAreaLeft" fmla="*/ 0 w 686520"/>
              <a:gd name="textAreaRight" fmla="*/ 686880 w 686520"/>
              <a:gd name="textAreaTop" fmla="*/ 0 h 290880"/>
              <a:gd name="textAreaBottom" fmla="*/ 291240 h 290880"/>
            </a:gdLst>
            <a:ahLst/>
            <a:rect l="textAreaLeft" t="textAreaTop" r="textAreaRight" b="textAreaBottom"/>
            <a:pathLst>
              <a:path w="686745" h="291256">
                <a:moveTo>
                  <a:pt x="0" y="0"/>
                </a:moveTo>
                <a:lnTo>
                  <a:pt x="686745" y="0"/>
                </a:lnTo>
                <a:lnTo>
                  <a:pt x="686745" y="291256"/>
                </a:lnTo>
                <a:lnTo>
                  <a:pt x="0" y="29125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Freeform 3"/>
          <p:cNvSpPr/>
          <p:nvPr/>
        </p:nvSpPr>
        <p:spPr>
          <a:xfrm>
            <a:off x="15566760" y="7282800"/>
            <a:ext cx="842760" cy="1435320"/>
          </a:xfrm>
          <a:custGeom>
            <a:avLst/>
            <a:gdLst>
              <a:gd name="textAreaLeft" fmla="*/ 0 w 842760"/>
              <a:gd name="textAreaRight" fmla="*/ 843120 w 842760"/>
              <a:gd name="textAreaTop" fmla="*/ 0 h 1435320"/>
              <a:gd name="textAreaBottom" fmla="*/ 1435680 h 1435320"/>
            </a:gdLst>
            <a:ahLst/>
            <a:rect l="textAreaLeft" t="textAreaTop" r="textAreaRight" b="textAreaBottom"/>
            <a:pathLst>
              <a:path w="843181" h="1435757">
                <a:moveTo>
                  <a:pt x="0" y="0"/>
                </a:moveTo>
                <a:lnTo>
                  <a:pt x="843181" y="0"/>
                </a:lnTo>
                <a:lnTo>
                  <a:pt x="843181" y="1435757"/>
                </a:lnTo>
                <a:lnTo>
                  <a:pt x="0" y="143575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Freeform 4"/>
          <p:cNvSpPr/>
          <p:nvPr/>
        </p:nvSpPr>
        <p:spPr>
          <a:xfrm>
            <a:off x="1412640" y="7696800"/>
            <a:ext cx="599760" cy="1021320"/>
          </a:xfrm>
          <a:custGeom>
            <a:avLst/>
            <a:gdLst>
              <a:gd name="textAreaLeft" fmla="*/ 0 w 599760"/>
              <a:gd name="textAreaRight" fmla="*/ 600120 w 599760"/>
              <a:gd name="textAreaTop" fmla="*/ 0 h 1021320"/>
              <a:gd name="textAreaBottom" fmla="*/ 1021680 h 1021320"/>
            </a:gdLst>
            <a:ahLst/>
            <a:rect l="textAreaLeft" t="textAreaTop" r="textAreaRight" b="textAreaBottom"/>
            <a:pathLst>
              <a:path w="600097" h="1021838">
                <a:moveTo>
                  <a:pt x="0" y="0"/>
                </a:moveTo>
                <a:lnTo>
                  <a:pt x="600098" y="0"/>
                </a:lnTo>
                <a:lnTo>
                  <a:pt x="600098" y="1021837"/>
                </a:lnTo>
                <a:lnTo>
                  <a:pt x="0" y="102183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00" name="Group 5"/>
          <p:cNvGrpSpPr/>
          <p:nvPr/>
        </p:nvGrpSpPr>
        <p:grpSpPr>
          <a:xfrm>
            <a:off x="-1464120" y="8823600"/>
            <a:ext cx="21371400" cy="1426680"/>
            <a:chOff x="-1464120" y="8823600"/>
            <a:chExt cx="21371400" cy="1426680"/>
          </a:xfrm>
        </p:grpSpPr>
        <p:sp>
          <p:nvSpPr>
            <p:cNvPr id="201" name="Freeform 6"/>
            <p:cNvSpPr/>
            <p:nvPr/>
          </p:nvSpPr>
          <p:spPr>
            <a:xfrm>
              <a:off x="-1464120" y="8823600"/>
              <a:ext cx="8348760" cy="1426680"/>
            </a:xfrm>
            <a:custGeom>
              <a:avLst/>
              <a:gdLst>
                <a:gd name="textAreaLeft" fmla="*/ 0 w 8348760"/>
                <a:gd name="textAreaRight" fmla="*/ 8349120 w 8348760"/>
                <a:gd name="textAreaTop" fmla="*/ 0 h 1426680"/>
                <a:gd name="textAreaBottom" fmla="*/ 1427040 h 1426680"/>
              </a:gdLst>
              <a:ahLst/>
              <a:rect l="textAreaLeft" t="textAreaTop" r="textAreaRight" b="textAreaBottom"/>
              <a:pathLst>
                <a:path w="11132334" h="1902617">
                  <a:moveTo>
                    <a:pt x="0" y="0"/>
                  </a:moveTo>
                  <a:lnTo>
                    <a:pt x="11132334" y="0"/>
                  </a:lnTo>
                  <a:lnTo>
                    <a:pt x="11132334" y="1902617"/>
                  </a:lnTo>
                  <a:lnTo>
                    <a:pt x="0" y="190261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2" name="Freeform 7"/>
            <p:cNvSpPr/>
            <p:nvPr/>
          </p:nvSpPr>
          <p:spPr>
            <a:xfrm>
              <a:off x="6153840" y="8823600"/>
              <a:ext cx="8348760" cy="1426680"/>
            </a:xfrm>
            <a:custGeom>
              <a:avLst/>
              <a:gdLst>
                <a:gd name="textAreaLeft" fmla="*/ 0 w 8348760"/>
                <a:gd name="textAreaRight" fmla="*/ 8349120 w 8348760"/>
                <a:gd name="textAreaTop" fmla="*/ 0 h 1426680"/>
                <a:gd name="textAreaBottom" fmla="*/ 1427040 h 1426680"/>
              </a:gdLst>
              <a:ahLst/>
              <a:rect l="textAreaLeft" t="textAreaTop" r="textAreaRight" b="textAreaBottom"/>
              <a:pathLst>
                <a:path w="11132334" h="1902617">
                  <a:moveTo>
                    <a:pt x="0" y="0"/>
                  </a:moveTo>
                  <a:lnTo>
                    <a:pt x="11132334" y="0"/>
                  </a:lnTo>
                  <a:lnTo>
                    <a:pt x="11132334" y="1902617"/>
                  </a:lnTo>
                  <a:lnTo>
                    <a:pt x="0" y="190261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3" name="Freeform 8"/>
            <p:cNvSpPr/>
            <p:nvPr/>
          </p:nvSpPr>
          <p:spPr>
            <a:xfrm>
              <a:off x="11558520" y="8823600"/>
              <a:ext cx="8348760" cy="1426680"/>
            </a:xfrm>
            <a:custGeom>
              <a:avLst/>
              <a:gdLst>
                <a:gd name="textAreaLeft" fmla="*/ 0 w 8348760"/>
                <a:gd name="textAreaRight" fmla="*/ 8349120 w 8348760"/>
                <a:gd name="textAreaTop" fmla="*/ 0 h 1426680"/>
                <a:gd name="textAreaBottom" fmla="*/ 1427040 h 1426680"/>
              </a:gdLst>
              <a:ahLst/>
              <a:rect l="textAreaLeft" t="textAreaTop" r="textAreaRight" b="textAreaBottom"/>
              <a:pathLst>
                <a:path w="11132334" h="1902617">
                  <a:moveTo>
                    <a:pt x="0" y="0"/>
                  </a:moveTo>
                  <a:lnTo>
                    <a:pt x="11132334" y="0"/>
                  </a:lnTo>
                  <a:lnTo>
                    <a:pt x="11132334" y="1902617"/>
                  </a:lnTo>
                  <a:lnTo>
                    <a:pt x="0" y="1902617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s-CL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04" name="Freeform 9"/>
          <p:cNvSpPr/>
          <p:nvPr/>
        </p:nvSpPr>
        <p:spPr>
          <a:xfrm>
            <a:off x="2905200" y="5143680"/>
            <a:ext cx="2451240" cy="1564200"/>
          </a:xfrm>
          <a:custGeom>
            <a:avLst/>
            <a:gdLst>
              <a:gd name="textAreaLeft" fmla="*/ 0 w 2451240"/>
              <a:gd name="textAreaRight" fmla="*/ 2451600 w 2451240"/>
              <a:gd name="textAreaTop" fmla="*/ 0 h 1564200"/>
              <a:gd name="textAreaBottom" fmla="*/ 1564560 h 1564200"/>
            </a:gdLst>
            <a:ahLst/>
            <a:rect l="textAreaLeft" t="textAreaTop" r="textAreaRight" b="textAreaBottom"/>
            <a:pathLst>
              <a:path w="2451779" h="1564384">
                <a:moveTo>
                  <a:pt x="0" y="0"/>
                </a:moveTo>
                <a:lnTo>
                  <a:pt x="2451779" y="0"/>
                </a:lnTo>
                <a:lnTo>
                  <a:pt x="2451779" y="1564384"/>
                </a:lnTo>
                <a:lnTo>
                  <a:pt x="0" y="15643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Freeform 10"/>
          <p:cNvSpPr/>
          <p:nvPr/>
        </p:nvSpPr>
        <p:spPr>
          <a:xfrm>
            <a:off x="8382240" y="5397480"/>
            <a:ext cx="2451240" cy="1564200"/>
          </a:xfrm>
          <a:custGeom>
            <a:avLst/>
            <a:gdLst>
              <a:gd name="textAreaLeft" fmla="*/ 0 w 2451240"/>
              <a:gd name="textAreaRight" fmla="*/ 2451600 w 2451240"/>
              <a:gd name="textAreaTop" fmla="*/ 0 h 1564200"/>
              <a:gd name="textAreaBottom" fmla="*/ 1564560 h 1564200"/>
            </a:gdLst>
            <a:ahLst/>
            <a:rect l="textAreaLeft" t="textAreaTop" r="textAreaRight" b="textAreaBottom"/>
            <a:pathLst>
              <a:path w="2451779" h="1564384">
                <a:moveTo>
                  <a:pt x="0" y="0"/>
                </a:moveTo>
                <a:lnTo>
                  <a:pt x="2451779" y="0"/>
                </a:lnTo>
                <a:lnTo>
                  <a:pt x="2451779" y="1564384"/>
                </a:lnTo>
                <a:lnTo>
                  <a:pt x="0" y="15643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Freeform 11"/>
          <p:cNvSpPr/>
          <p:nvPr/>
        </p:nvSpPr>
        <p:spPr>
          <a:xfrm>
            <a:off x="13536360" y="4842360"/>
            <a:ext cx="2451240" cy="1564200"/>
          </a:xfrm>
          <a:custGeom>
            <a:avLst/>
            <a:gdLst>
              <a:gd name="textAreaLeft" fmla="*/ 0 w 2451240"/>
              <a:gd name="textAreaRight" fmla="*/ 2451600 w 2451240"/>
              <a:gd name="textAreaTop" fmla="*/ 0 h 1564200"/>
              <a:gd name="textAreaBottom" fmla="*/ 1564560 h 1564200"/>
            </a:gdLst>
            <a:ahLst/>
            <a:rect l="textAreaLeft" t="textAreaTop" r="textAreaRight" b="textAreaBottom"/>
            <a:pathLst>
              <a:path w="2451779" h="1564384">
                <a:moveTo>
                  <a:pt x="0" y="0"/>
                </a:moveTo>
                <a:lnTo>
                  <a:pt x="2451780" y="0"/>
                </a:lnTo>
                <a:lnTo>
                  <a:pt x="2451780" y="1564384"/>
                </a:lnTo>
                <a:lnTo>
                  <a:pt x="0" y="15643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Freeform 12"/>
          <p:cNvSpPr/>
          <p:nvPr/>
        </p:nvSpPr>
        <p:spPr>
          <a:xfrm>
            <a:off x="2946240" y="2772000"/>
            <a:ext cx="2369520" cy="1565640"/>
          </a:xfrm>
          <a:custGeom>
            <a:avLst/>
            <a:gdLst>
              <a:gd name="textAreaLeft" fmla="*/ 0 w 2369520"/>
              <a:gd name="textAreaRight" fmla="*/ 2369880 w 2369520"/>
              <a:gd name="textAreaTop" fmla="*/ 0 h 1565640"/>
              <a:gd name="textAreaBottom" fmla="*/ 1566000 h 1565640"/>
            </a:gdLst>
            <a:ahLst/>
            <a:rect l="textAreaLeft" t="textAreaTop" r="textAreaRight" b="textAreaBottom"/>
            <a:pathLst>
              <a:path w="2369773" h="1566111">
                <a:moveTo>
                  <a:pt x="0" y="0"/>
                </a:moveTo>
                <a:lnTo>
                  <a:pt x="2369773" y="0"/>
                </a:lnTo>
                <a:lnTo>
                  <a:pt x="2369773" y="1566111"/>
                </a:lnTo>
                <a:lnTo>
                  <a:pt x="0" y="156611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Freeform 13"/>
          <p:cNvSpPr/>
          <p:nvPr/>
        </p:nvSpPr>
        <p:spPr>
          <a:xfrm>
            <a:off x="8382240" y="2616840"/>
            <a:ext cx="2390400" cy="2358720"/>
          </a:xfrm>
          <a:custGeom>
            <a:avLst/>
            <a:gdLst>
              <a:gd name="textAreaLeft" fmla="*/ 0 w 2390400"/>
              <a:gd name="textAreaRight" fmla="*/ 2390760 w 2390400"/>
              <a:gd name="textAreaTop" fmla="*/ 0 h 2358720"/>
              <a:gd name="textAreaBottom" fmla="*/ 2359080 h 2358720"/>
            </a:gdLst>
            <a:ahLst/>
            <a:rect l="textAreaLeft" t="textAreaTop" r="textAreaRight" b="textAreaBottom"/>
            <a:pathLst>
              <a:path w="2390649" h="2359194">
                <a:moveTo>
                  <a:pt x="0" y="0"/>
                </a:moveTo>
                <a:lnTo>
                  <a:pt x="2390649" y="0"/>
                </a:lnTo>
                <a:lnTo>
                  <a:pt x="2390649" y="2359193"/>
                </a:lnTo>
                <a:lnTo>
                  <a:pt x="0" y="235919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Freeform 14"/>
          <p:cNvSpPr/>
          <p:nvPr/>
        </p:nvSpPr>
        <p:spPr>
          <a:xfrm>
            <a:off x="13190760" y="1168920"/>
            <a:ext cx="3044520" cy="2896200"/>
          </a:xfrm>
          <a:custGeom>
            <a:avLst/>
            <a:gdLst>
              <a:gd name="textAreaLeft" fmla="*/ 0 w 3044520"/>
              <a:gd name="textAreaRight" fmla="*/ 3044880 w 3044520"/>
              <a:gd name="textAreaTop" fmla="*/ 0 h 2896200"/>
              <a:gd name="textAreaBottom" fmla="*/ 2896560 h 2896200"/>
            </a:gdLst>
            <a:ahLst/>
            <a:rect l="textAreaLeft" t="textAreaTop" r="textAreaRight" b="textAreaBottom"/>
            <a:pathLst>
              <a:path w="3045046" h="2896507">
                <a:moveTo>
                  <a:pt x="0" y="0"/>
                </a:moveTo>
                <a:lnTo>
                  <a:pt x="3045046" y="0"/>
                </a:lnTo>
                <a:lnTo>
                  <a:pt x="3045046" y="2896507"/>
                </a:lnTo>
                <a:lnTo>
                  <a:pt x="0" y="289650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s-CL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Box 15"/>
          <p:cNvSpPr/>
          <p:nvPr/>
        </p:nvSpPr>
        <p:spPr>
          <a:xfrm>
            <a:off x="1028880" y="885960"/>
            <a:ext cx="6204240" cy="18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132"/>
              </a:lnSpc>
            </a:pPr>
            <a:r>
              <a:rPr b="0" lang="en-US" sz="5090" spc="-1" strike="noStrike">
                <a:solidFill>
                  <a:srgbClr val="ffde59"/>
                </a:solidFill>
                <a:latin typeface="Arcade Gamer"/>
                <a:ea typeface="Arcade Gamer"/>
              </a:rPr>
              <a:t>CALIDAD Y VALIDACIÓN</a:t>
            </a:r>
            <a:endParaRPr b="0" lang="es-CL" sz="509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6"/>
          <p:cNvSpPr/>
          <p:nvPr/>
        </p:nvSpPr>
        <p:spPr>
          <a:xfrm>
            <a:off x="3030840" y="4518720"/>
            <a:ext cx="228492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880"/>
              </a:lnSpc>
            </a:pPr>
            <a:r>
              <a:rPr b="1" lang="en-US" sz="2060" spc="-1" strike="noStrike">
                <a:solidFill>
                  <a:srgbClr val="ffffff"/>
                </a:solidFill>
                <a:latin typeface="Poppins Bold"/>
                <a:ea typeface="Poppins Bold"/>
              </a:rPr>
              <a:t>PLANIFICAR</a:t>
            </a:r>
            <a:endParaRPr b="0" lang="es-CL" sz="20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Box 17"/>
          <p:cNvSpPr/>
          <p:nvPr/>
        </p:nvSpPr>
        <p:spPr>
          <a:xfrm>
            <a:off x="7957080" y="4785120"/>
            <a:ext cx="324072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880"/>
              </a:lnSpc>
            </a:pPr>
            <a:r>
              <a:rPr b="1" lang="en-US" sz="2060" spc="-1" strike="noStrike">
                <a:solidFill>
                  <a:srgbClr val="ffffff"/>
                </a:solidFill>
                <a:latin typeface="Poppins Bold"/>
                <a:ea typeface="Poppins Bold"/>
              </a:rPr>
              <a:t>VALIDAR</a:t>
            </a:r>
            <a:endParaRPr b="0" lang="es-CL" sz="20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Box 18"/>
          <p:cNvSpPr/>
          <p:nvPr/>
        </p:nvSpPr>
        <p:spPr>
          <a:xfrm>
            <a:off x="13711680" y="4125960"/>
            <a:ext cx="200232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880"/>
              </a:lnSpc>
            </a:pPr>
            <a:r>
              <a:rPr b="1" lang="en-US" sz="2060" spc="-1" strike="noStrike">
                <a:solidFill>
                  <a:srgbClr val="ffffff"/>
                </a:solidFill>
                <a:latin typeface="Poppins Bold"/>
                <a:ea typeface="Poppins Bold"/>
              </a:rPr>
              <a:t>MEJORAR</a:t>
            </a:r>
            <a:endParaRPr b="0" lang="es-CL" sz="206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7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Picture 2" descr=""/>
          <p:cNvPicPr/>
          <p:nvPr/>
        </p:nvPicPr>
        <p:blipFill>
          <a:blip r:embed="rId1"/>
          <a:stretch/>
        </p:blipFill>
        <p:spPr>
          <a:xfrm>
            <a:off x="6370200" y="2689200"/>
            <a:ext cx="5547240" cy="1861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DAHUFgvtOjs</dc:identifier>
  <dc:language>es-CL</dc:language>
  <cp:lastModifiedBy/>
  <dcterms:modified xsi:type="dcterms:W3CDTF">2026-09-02T19:35:10Z</dcterms:modified>
  <cp:revision>3</cp:revision>
  <dc:subject/>
  <dc:title>Presentación Empresa Negocio Retro Game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