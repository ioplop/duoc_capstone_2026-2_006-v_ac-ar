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etropix" charset="1" panose="00000000000000000000"/>
      <p:regular r:id="rId17"/>
    </p:embeddedFont>
    <p:embeddedFont>
      <p:font typeface="Arcade Gamer" charset="1" panose="000000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gif" Type="http://schemas.openxmlformats.org/officeDocument/2006/relationships/image"/><Relationship Id="rId5" Target="../media/image16.gif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6.gif" Type="http://schemas.openxmlformats.org/officeDocument/2006/relationships/image"/><Relationship Id="rId5" Target="../media/image20.gif" Type="http://schemas.openxmlformats.org/officeDocument/2006/relationships/image"/><Relationship Id="rId6" Target="../media/image21.gif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gif" Type="http://schemas.openxmlformats.org/officeDocument/2006/relationships/image"/><Relationship Id="rId3" Target="../media/image26.gif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4.pn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gif" Type="http://schemas.openxmlformats.org/officeDocument/2006/relationships/image"/><Relationship Id="rId3" Target="../media/image26.gif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66335"/>
            <a:ext cx="1571900" cy="803098"/>
          </a:xfrm>
          <a:custGeom>
            <a:avLst/>
            <a:gdLst/>
            <a:ahLst/>
            <a:cxnLst/>
            <a:rect r="r" b="b" t="t" l="l"/>
            <a:pathLst>
              <a:path h="803098" w="1571900">
                <a:moveTo>
                  <a:pt x="0" y="0"/>
                </a:moveTo>
                <a:lnTo>
                  <a:pt x="1571900" y="0"/>
                </a:lnTo>
                <a:lnTo>
                  <a:pt x="1571900" y="803098"/>
                </a:lnTo>
                <a:lnTo>
                  <a:pt x="0" y="803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12122" y="1046205"/>
            <a:ext cx="1571900" cy="803098"/>
          </a:xfrm>
          <a:custGeom>
            <a:avLst/>
            <a:gdLst/>
            <a:ahLst/>
            <a:cxnLst/>
            <a:rect r="r" b="b" t="t" l="l"/>
            <a:pathLst>
              <a:path h="803098" w="1571900">
                <a:moveTo>
                  <a:pt x="0" y="0"/>
                </a:moveTo>
                <a:lnTo>
                  <a:pt x="1571900" y="0"/>
                </a:lnTo>
                <a:lnTo>
                  <a:pt x="1571900" y="803098"/>
                </a:lnTo>
                <a:lnTo>
                  <a:pt x="0" y="803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04792" y="1816440"/>
            <a:ext cx="691127" cy="613218"/>
          </a:xfrm>
          <a:custGeom>
            <a:avLst/>
            <a:gdLst/>
            <a:ahLst/>
            <a:cxnLst/>
            <a:rect r="r" b="b" t="t" l="l"/>
            <a:pathLst>
              <a:path h="613218" w="691127">
                <a:moveTo>
                  <a:pt x="0" y="0"/>
                </a:moveTo>
                <a:lnTo>
                  <a:pt x="691127" y="0"/>
                </a:lnTo>
                <a:lnTo>
                  <a:pt x="691127" y="613219"/>
                </a:lnTo>
                <a:lnTo>
                  <a:pt x="0" y="6132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32287" y="1798343"/>
            <a:ext cx="691127" cy="613218"/>
          </a:xfrm>
          <a:custGeom>
            <a:avLst/>
            <a:gdLst/>
            <a:ahLst/>
            <a:cxnLst/>
            <a:rect r="r" b="b" t="t" l="l"/>
            <a:pathLst>
              <a:path h="613218" w="691127">
                <a:moveTo>
                  <a:pt x="0" y="0"/>
                </a:moveTo>
                <a:lnTo>
                  <a:pt x="691128" y="0"/>
                </a:lnTo>
                <a:lnTo>
                  <a:pt x="691128" y="613219"/>
                </a:lnTo>
                <a:lnTo>
                  <a:pt x="0" y="6132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62184" y="1798343"/>
            <a:ext cx="691127" cy="613218"/>
          </a:xfrm>
          <a:custGeom>
            <a:avLst/>
            <a:gdLst/>
            <a:ahLst/>
            <a:cxnLst/>
            <a:rect r="r" b="b" t="t" l="l"/>
            <a:pathLst>
              <a:path h="613218" w="691127">
                <a:moveTo>
                  <a:pt x="0" y="0"/>
                </a:moveTo>
                <a:lnTo>
                  <a:pt x="691128" y="0"/>
                </a:lnTo>
                <a:lnTo>
                  <a:pt x="691128" y="613219"/>
                </a:lnTo>
                <a:lnTo>
                  <a:pt x="0" y="613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92081" y="1798343"/>
            <a:ext cx="691127" cy="613218"/>
          </a:xfrm>
          <a:custGeom>
            <a:avLst/>
            <a:gdLst/>
            <a:ahLst/>
            <a:cxnLst/>
            <a:rect r="r" b="b" t="t" l="l"/>
            <a:pathLst>
              <a:path h="613218" w="691127">
                <a:moveTo>
                  <a:pt x="0" y="0"/>
                </a:moveTo>
                <a:lnTo>
                  <a:pt x="691127" y="0"/>
                </a:lnTo>
                <a:lnTo>
                  <a:pt x="691127" y="613219"/>
                </a:lnTo>
                <a:lnTo>
                  <a:pt x="0" y="613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21663" y="7311605"/>
            <a:ext cx="1560258" cy="1407069"/>
          </a:xfrm>
          <a:custGeom>
            <a:avLst/>
            <a:gdLst/>
            <a:ahLst/>
            <a:cxnLst/>
            <a:rect r="r" b="b" t="t" l="l"/>
            <a:pathLst>
              <a:path h="1407069" w="1560258">
                <a:moveTo>
                  <a:pt x="0" y="0"/>
                </a:moveTo>
                <a:lnTo>
                  <a:pt x="1560258" y="0"/>
                </a:lnTo>
                <a:lnTo>
                  <a:pt x="1560258" y="1407069"/>
                </a:lnTo>
                <a:lnTo>
                  <a:pt x="0" y="14070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13361" y="6777047"/>
            <a:ext cx="1650543" cy="705232"/>
          </a:xfrm>
          <a:custGeom>
            <a:avLst/>
            <a:gdLst/>
            <a:ahLst/>
            <a:cxnLst/>
            <a:rect r="r" b="b" t="t" l="l"/>
            <a:pathLst>
              <a:path h="705232" w="1650543">
                <a:moveTo>
                  <a:pt x="0" y="0"/>
                </a:moveTo>
                <a:lnTo>
                  <a:pt x="1650543" y="0"/>
                </a:lnTo>
                <a:lnTo>
                  <a:pt x="1650543" y="705233"/>
                </a:lnTo>
                <a:lnTo>
                  <a:pt x="0" y="7052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67777" y="7311605"/>
            <a:ext cx="1529423" cy="1407069"/>
          </a:xfrm>
          <a:custGeom>
            <a:avLst/>
            <a:gdLst/>
            <a:ahLst/>
            <a:cxnLst/>
            <a:rect r="r" b="b" t="t" l="l"/>
            <a:pathLst>
              <a:path h="1407069" w="1529423">
                <a:moveTo>
                  <a:pt x="0" y="0"/>
                </a:moveTo>
                <a:lnTo>
                  <a:pt x="1529424" y="0"/>
                </a:lnTo>
                <a:lnTo>
                  <a:pt x="1529424" y="1407069"/>
                </a:lnTo>
                <a:lnTo>
                  <a:pt x="0" y="14070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40137" y="9100269"/>
            <a:ext cx="18725104" cy="1250234"/>
            <a:chOff x="0" y="0"/>
            <a:chExt cx="24966805" cy="16669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1666979"/>
            </a:xfrm>
            <a:custGeom>
              <a:avLst/>
              <a:gdLst/>
              <a:ahLst/>
              <a:cxnLst/>
              <a:rect r="r" b="b" t="t" l="l"/>
              <a:pathLst>
                <a:path h="166697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666979"/>
                  </a:lnTo>
                  <a:lnTo>
                    <a:pt x="0" y="1666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899491" y="0"/>
              <a:ext cx="9753600" cy="1666979"/>
            </a:xfrm>
            <a:custGeom>
              <a:avLst/>
              <a:gdLst/>
              <a:ahLst/>
              <a:cxnLst/>
              <a:rect r="r" b="b" t="t" l="l"/>
              <a:pathLst>
                <a:path h="166697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666979"/>
                  </a:lnTo>
                  <a:lnTo>
                    <a:pt x="0" y="1666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213205" y="0"/>
              <a:ext cx="9753600" cy="1666979"/>
            </a:xfrm>
            <a:custGeom>
              <a:avLst/>
              <a:gdLst/>
              <a:ahLst/>
              <a:cxnLst/>
              <a:rect r="r" b="b" t="t" l="l"/>
              <a:pathLst>
                <a:path h="166697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666979"/>
                  </a:lnTo>
                  <a:lnTo>
                    <a:pt x="0" y="1666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517463" y="3056810"/>
            <a:ext cx="11253074" cy="121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3"/>
              </a:lnSpc>
            </a:pPr>
            <a:r>
              <a:rPr lang="en-US" sz="7923" i="true" spc="1251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DIRECTIVA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94108" y="4458335"/>
            <a:ext cx="7089050" cy="68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ÁNGEL ROJAS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ÁLVARO CASTRO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19900" y="5357781"/>
            <a:ext cx="7089050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DE59">
                    <a:alpha val="73725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Ingeniería Informática, Capstone, 2026.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4265" y="1718563"/>
            <a:ext cx="1571900" cy="803098"/>
          </a:xfrm>
          <a:custGeom>
            <a:avLst/>
            <a:gdLst/>
            <a:ahLst/>
            <a:cxnLst/>
            <a:rect r="r" b="b" t="t" l="l"/>
            <a:pathLst>
              <a:path h="803098" w="1571900">
                <a:moveTo>
                  <a:pt x="0" y="0"/>
                </a:moveTo>
                <a:lnTo>
                  <a:pt x="1571900" y="0"/>
                </a:lnTo>
                <a:lnTo>
                  <a:pt x="1571900" y="803098"/>
                </a:lnTo>
                <a:lnTo>
                  <a:pt x="0" y="803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12055" y="627151"/>
            <a:ext cx="1571900" cy="803098"/>
          </a:xfrm>
          <a:custGeom>
            <a:avLst/>
            <a:gdLst/>
            <a:ahLst/>
            <a:cxnLst/>
            <a:rect r="r" b="b" t="t" l="l"/>
            <a:pathLst>
              <a:path h="803098" w="1571900">
                <a:moveTo>
                  <a:pt x="1571900" y="0"/>
                </a:moveTo>
                <a:lnTo>
                  <a:pt x="0" y="0"/>
                </a:lnTo>
                <a:lnTo>
                  <a:pt x="0" y="803098"/>
                </a:lnTo>
                <a:lnTo>
                  <a:pt x="1571900" y="803098"/>
                </a:lnTo>
                <a:lnTo>
                  <a:pt x="15719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825415" y="7172716"/>
            <a:ext cx="1298605" cy="154595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4101260" y="7635743"/>
            <a:ext cx="599964" cy="641672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5054283" y="7635743"/>
            <a:ext cx="599964" cy="641672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6006672" y="7635743"/>
            <a:ext cx="599964" cy="641672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5473032" y="479378"/>
            <a:ext cx="1786268" cy="295546"/>
          </a:xfrm>
          <a:custGeom>
            <a:avLst/>
            <a:gdLst/>
            <a:ahLst/>
            <a:cxnLst/>
            <a:rect r="r" b="b" t="t" l="l"/>
            <a:pathLst>
              <a:path h="295546" w="1786268">
                <a:moveTo>
                  <a:pt x="0" y="0"/>
                </a:moveTo>
                <a:lnTo>
                  <a:pt x="1786268" y="0"/>
                </a:lnTo>
                <a:lnTo>
                  <a:pt x="1786268" y="295546"/>
                </a:lnTo>
                <a:lnTo>
                  <a:pt x="0" y="295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3955" y="4278776"/>
            <a:ext cx="13200402" cy="91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2"/>
              </a:lnSpc>
              <a:spcBef>
                <a:spcPct val="0"/>
              </a:spcBef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PROBLEMA Y CONTEXTO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3717" y="5439274"/>
            <a:ext cx="11820566" cy="179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6"/>
              </a:lnSpc>
            </a:pPr>
            <a:r>
              <a:rPr lang="en-US" sz="2526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APRENDER PROGRAMACIÓN PUEDE RESULTAR ABSTRACTO E INTIMIDANTE PARA PERSONAS SIN EXPERIENCIA PREVIA.</a:t>
            </a:r>
          </a:p>
          <a:p>
            <a:pPr algn="ctr">
              <a:lnSpc>
                <a:spcPts val="3536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140137" y="9100269"/>
            <a:ext cx="18725104" cy="1250234"/>
            <a:chOff x="0" y="0"/>
            <a:chExt cx="24966805" cy="16669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1666979"/>
            </a:xfrm>
            <a:custGeom>
              <a:avLst/>
              <a:gdLst/>
              <a:ahLst/>
              <a:cxnLst/>
              <a:rect r="r" b="b" t="t" l="l"/>
              <a:pathLst>
                <a:path h="166697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666979"/>
                  </a:lnTo>
                  <a:lnTo>
                    <a:pt x="0" y="1666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899491" y="0"/>
              <a:ext cx="9753600" cy="1666979"/>
            </a:xfrm>
            <a:custGeom>
              <a:avLst/>
              <a:gdLst/>
              <a:ahLst/>
              <a:cxnLst/>
              <a:rect r="r" b="b" t="t" l="l"/>
              <a:pathLst>
                <a:path h="166697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666979"/>
                  </a:lnTo>
                  <a:lnTo>
                    <a:pt x="0" y="1666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213205" y="0"/>
              <a:ext cx="9753600" cy="1666979"/>
            </a:xfrm>
            <a:custGeom>
              <a:avLst/>
              <a:gdLst/>
              <a:ahLst/>
              <a:cxnLst/>
              <a:rect r="r" b="b" t="t" l="l"/>
              <a:pathLst>
                <a:path h="166697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666979"/>
                  </a:lnTo>
                  <a:lnTo>
                    <a:pt x="0" y="1666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46318" y="5269862"/>
            <a:ext cx="686745" cy="291256"/>
          </a:xfrm>
          <a:custGeom>
            <a:avLst/>
            <a:gdLst/>
            <a:ahLst/>
            <a:cxnLst/>
            <a:rect r="r" b="b" t="t" l="l"/>
            <a:pathLst>
              <a:path h="291256" w="686745">
                <a:moveTo>
                  <a:pt x="0" y="0"/>
                </a:moveTo>
                <a:lnTo>
                  <a:pt x="686745" y="0"/>
                </a:lnTo>
                <a:lnTo>
                  <a:pt x="686745" y="291256"/>
                </a:lnTo>
                <a:lnTo>
                  <a:pt x="0" y="291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0106" t="0" r="0" b="-14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10170" y="2532160"/>
            <a:ext cx="6062385" cy="5766659"/>
          </a:xfrm>
          <a:custGeom>
            <a:avLst/>
            <a:gdLst/>
            <a:ahLst/>
            <a:cxnLst/>
            <a:rect r="r" b="b" t="t" l="l"/>
            <a:pathLst>
              <a:path h="5766659" w="6062385">
                <a:moveTo>
                  <a:pt x="0" y="0"/>
                </a:moveTo>
                <a:lnTo>
                  <a:pt x="6062385" y="0"/>
                </a:lnTo>
                <a:lnTo>
                  <a:pt x="6062385" y="5766659"/>
                </a:lnTo>
                <a:lnTo>
                  <a:pt x="0" y="5766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1476" y="917477"/>
            <a:ext cx="10685167" cy="18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2"/>
              </a:lnSpc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PROPUESTA DE VALOR</a:t>
            </a:r>
          </a:p>
          <a:p>
            <a:pPr algn="l">
              <a:lnSpc>
                <a:spcPts val="713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87577" y="2228983"/>
            <a:ext cx="7968158" cy="4276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Directiva es un videojuego educativo de estrategia y automatización para computadores de escritorio.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jugador programa agentes autónomos, ejecuta una simulación y analiza los resultados para mejorar su solución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7577" y="6635419"/>
            <a:ext cx="6448862" cy="212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51" indent="-323925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Programar comportamientos</a:t>
            </a:r>
          </a:p>
          <a:p>
            <a:pPr algn="l" marL="647851" indent="-323925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Observar la simulación</a:t>
            </a:r>
          </a:p>
          <a:p>
            <a:pPr algn="l" marL="647851" indent="-323925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Depurar y mejorar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30550" y="479378"/>
            <a:ext cx="1428750" cy="295546"/>
          </a:xfrm>
          <a:custGeom>
            <a:avLst/>
            <a:gdLst/>
            <a:ahLst/>
            <a:cxnLst/>
            <a:rect r="r" b="b" t="t" l="l"/>
            <a:pathLst>
              <a:path h="295546" w="1428750">
                <a:moveTo>
                  <a:pt x="0" y="0"/>
                </a:moveTo>
                <a:lnTo>
                  <a:pt x="1428750" y="0"/>
                </a:lnTo>
                <a:lnTo>
                  <a:pt x="1428750" y="295546"/>
                </a:lnTo>
                <a:lnTo>
                  <a:pt x="0" y="29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5023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8503676" y="3500183"/>
            <a:ext cx="608014" cy="649258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073226" y="3087066"/>
            <a:ext cx="1387515" cy="13875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9E77F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502329" y="3256565"/>
            <a:ext cx="591392" cy="1048517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1602134" y="7585035"/>
            <a:ext cx="1387515" cy="13875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9E77F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1704897" y="7756130"/>
            <a:ext cx="1181989" cy="880582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>
            <a:off x="1297733" y="6000623"/>
            <a:ext cx="1551622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3" id="13"/>
          <p:cNvSpPr/>
          <p:nvPr/>
        </p:nvSpPr>
        <p:spPr>
          <a:xfrm rot="-5400000">
            <a:off x="4429568" y="6667918"/>
            <a:ext cx="136316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-5400000">
            <a:off x="11600022" y="6682205"/>
            <a:ext cx="136316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99999">
            <a:off x="8111814" y="5304754"/>
            <a:ext cx="136316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99999">
            <a:off x="1085401" y="5304754"/>
            <a:ext cx="136316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diamond" len="lg" w="lg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099639" y="3087066"/>
            <a:ext cx="1387515" cy="138751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9E77F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502208" y="7646395"/>
            <a:ext cx="2634556" cy="1741098"/>
          </a:xfrm>
          <a:custGeom>
            <a:avLst/>
            <a:gdLst/>
            <a:ahLst/>
            <a:cxnLst/>
            <a:rect r="r" b="b" t="t" l="l"/>
            <a:pathLst>
              <a:path h="1741098" w="2634556">
                <a:moveTo>
                  <a:pt x="0" y="0"/>
                </a:moveTo>
                <a:lnTo>
                  <a:pt x="2634555" y="0"/>
                </a:lnTo>
                <a:lnTo>
                  <a:pt x="2634555" y="1741097"/>
                </a:lnTo>
                <a:lnTo>
                  <a:pt x="0" y="17410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87966" y="7457115"/>
            <a:ext cx="2390649" cy="2359194"/>
          </a:xfrm>
          <a:custGeom>
            <a:avLst/>
            <a:gdLst/>
            <a:ahLst/>
            <a:cxnLst/>
            <a:rect r="r" b="b" t="t" l="l"/>
            <a:pathLst>
              <a:path h="2359194" w="2390649">
                <a:moveTo>
                  <a:pt x="0" y="0"/>
                </a:moveTo>
                <a:lnTo>
                  <a:pt x="2390650" y="0"/>
                </a:lnTo>
                <a:lnTo>
                  <a:pt x="2390650" y="2359193"/>
                </a:lnTo>
                <a:lnTo>
                  <a:pt x="0" y="23591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39591" y="2736843"/>
            <a:ext cx="6500116" cy="2882781"/>
          </a:xfrm>
          <a:custGeom>
            <a:avLst/>
            <a:gdLst/>
            <a:ahLst/>
            <a:cxnLst/>
            <a:rect r="r" b="b" t="t" l="l"/>
            <a:pathLst>
              <a:path h="2882781" w="6500116">
                <a:moveTo>
                  <a:pt x="0" y="0"/>
                </a:moveTo>
                <a:lnTo>
                  <a:pt x="6500116" y="0"/>
                </a:lnTo>
                <a:lnTo>
                  <a:pt x="6500116" y="2882780"/>
                </a:lnTo>
                <a:lnTo>
                  <a:pt x="0" y="2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87966" y="632049"/>
            <a:ext cx="12819469" cy="18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2"/>
              </a:lnSpc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¿CÓMO FUNCIONA DIRECTIVA?</a:t>
            </a:r>
          </a:p>
          <a:p>
            <a:pPr algn="l">
              <a:lnSpc>
                <a:spcPts val="7132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817621" y="3580029"/>
            <a:ext cx="4558484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Crear programas con sintaxis inspirada en Python.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6136763" y="8086650"/>
            <a:ext cx="4558484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Asignar instrucciones a Agentes y Nexo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229786" y="8097208"/>
            <a:ext cx="398498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Observar errores, resultados y oportunidades de mejora.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17621" y="3094202"/>
            <a:ext cx="3319143" cy="44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098" indent="-270549" lvl="1">
              <a:lnSpc>
                <a:spcPts val="3508"/>
              </a:lnSpc>
              <a:spcBef>
                <a:spcPct val="0"/>
              </a:spcBef>
              <a:buAutoNum type="arabicPeriod" startAt="1"/>
            </a:pPr>
            <a:r>
              <a:rPr lang="en-US" sz="25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PROGRAMAR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36763" y="7600823"/>
            <a:ext cx="3319143" cy="44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098" indent="-270549" lvl="1">
              <a:lnSpc>
                <a:spcPts val="3508"/>
              </a:lnSpc>
              <a:spcBef>
                <a:spcPct val="0"/>
              </a:spcBef>
              <a:buAutoNum type="arabicPeriod" startAt="1"/>
            </a:pPr>
            <a:r>
              <a:rPr lang="en-US" sz="25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ASIGNAR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59240" y="2160197"/>
            <a:ext cx="3319143" cy="44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098" indent="-270549" lvl="1">
              <a:lnSpc>
                <a:spcPts val="3508"/>
              </a:lnSpc>
              <a:spcBef>
                <a:spcPct val="0"/>
              </a:spcBef>
              <a:buAutoNum type="arabicPeriod" startAt="1"/>
            </a:pPr>
            <a:r>
              <a:rPr lang="en-US" sz="25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SIMULAR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29786" y="7611382"/>
            <a:ext cx="3319143" cy="44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098" indent="-270549" lvl="1">
              <a:lnSpc>
                <a:spcPts val="3508"/>
              </a:lnSpc>
              <a:spcBef>
                <a:spcPct val="0"/>
              </a:spcBef>
              <a:buAutoNum type="arabicPeriod" startAt="1"/>
            </a:pPr>
            <a:r>
              <a:rPr lang="en-US" sz="25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ANALIZAR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02329" y="1629662"/>
            <a:ext cx="11860754" cy="15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689">
                <a:solidFill>
                  <a:srgbClr val="FFDE59">
                    <a:alpha val="65882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EL JUGADOR PREPARA LA ESTRATEGIA ANTES DE INICIAR LA SIMULACIÓN.</a:t>
            </a: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20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3321" y="2962150"/>
            <a:ext cx="1387515" cy="138751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9E77F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FFDE59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80504" y="2962150"/>
            <a:ext cx="1387515" cy="138751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9E77F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FFDE59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03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63321" y="5808410"/>
            <a:ext cx="1387515" cy="13875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9E77F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FFDE59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80504" y="5808410"/>
            <a:ext cx="1387515" cy="13875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9E77F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FFDE59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04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503326"/>
            <a:ext cx="14826092" cy="154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3"/>
              </a:lnSpc>
            </a:pPr>
            <a:r>
              <a:rPr lang="en-US" sz="4295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DESARROLLO DEL PROYECTO</a:t>
            </a:r>
          </a:p>
          <a:p>
            <a:pPr algn="ctr">
              <a:lnSpc>
                <a:spcPts val="6013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080231" y="2884402"/>
            <a:ext cx="2784233" cy="46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8"/>
              </a:lnSpc>
              <a:spcBef>
                <a:spcPct val="0"/>
              </a:spcBef>
            </a:pPr>
            <a:r>
              <a:rPr lang="en-US" sz="26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FASE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3507" y="3307292"/>
            <a:ext cx="5280957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Definición del proyecto, objetivos, requisitos, arquitectura, backlog y planificación.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89311" y="3307292"/>
            <a:ext cx="5512820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Simulación, Agentes, Nexos, recursos, interfaz y representación visual.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3507" y="6153552"/>
            <a:ext cx="5280957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e implementación del lenguaje de programación y del intérprete base.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86950" y="6544077"/>
            <a:ext cx="5224973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Niveles, pruebas funcionales, playtests, mejoras y versión final.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36474" y="5703913"/>
            <a:ext cx="3127990" cy="46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8"/>
              </a:lnSpc>
              <a:spcBef>
                <a:spcPct val="0"/>
              </a:spcBef>
            </a:pPr>
            <a:r>
              <a:rPr lang="en-US" sz="26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FASE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89311" y="2885950"/>
            <a:ext cx="3319143" cy="46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  <a:spcBef>
                <a:spcPct val="0"/>
              </a:spcBef>
            </a:pPr>
            <a:r>
              <a:rPr lang="en-US" sz="26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DESARROLLO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86950" y="5337387"/>
            <a:ext cx="5515182" cy="924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  <a:spcBef>
                <a:spcPct val="0"/>
              </a:spcBef>
            </a:pPr>
            <a:r>
              <a:rPr lang="en-US" sz="26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INTEGRACIÓN Y VALIDACIÓN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473032" y="479378"/>
            <a:ext cx="1786268" cy="295546"/>
          </a:xfrm>
          <a:custGeom>
            <a:avLst/>
            <a:gdLst/>
            <a:ahLst/>
            <a:cxnLst/>
            <a:rect r="r" b="b" t="t" l="l"/>
            <a:pathLst>
              <a:path h="295546" w="1786268">
                <a:moveTo>
                  <a:pt x="0" y="0"/>
                </a:moveTo>
                <a:lnTo>
                  <a:pt x="1786268" y="0"/>
                </a:lnTo>
                <a:lnTo>
                  <a:pt x="1786268" y="295546"/>
                </a:lnTo>
                <a:lnTo>
                  <a:pt x="0" y="29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831561" y="6738348"/>
            <a:ext cx="1421738" cy="161561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5588153" y="1854739"/>
            <a:ext cx="1671147" cy="193544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-7765" y="501022"/>
            <a:ext cx="7992449" cy="18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32"/>
              </a:lnSpc>
              <a:spcBef>
                <a:spcPct val="0"/>
              </a:spcBef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OBJETIVOS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39195" y="6563105"/>
            <a:ext cx="6204745" cy="272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2"/>
              </a:lnSpc>
              <a:spcBef>
                <a:spcPct val="0"/>
              </a:spcBef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OBJETIVOS ESPECÍFICOS</a:t>
            </a:r>
          </a:p>
          <a:p>
            <a:pPr algn="l">
              <a:lnSpc>
                <a:spcPts val="713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855003" y="1298864"/>
            <a:ext cx="5791729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Desarrollar Directiva, un videojuego educativo de estrategia y automatización que permita aprender y practicar programación mediante agentes autóno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mos en un entorno simulado.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728879" y="6681198"/>
            <a:ext cx="8952686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Diseñar una arquitectura modular y desacoplada.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Desarrollar un lenguaje inspirado en Python y su intérprete.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Implementar simulación de Agentes, Nexos, recursos y combate.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Crear niveles para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programar, ejecutar, observar y mejorar.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Validar mediante pruebas funcionales y playtests.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30550" y="479378"/>
            <a:ext cx="1428750" cy="295546"/>
          </a:xfrm>
          <a:custGeom>
            <a:avLst/>
            <a:gdLst/>
            <a:ahLst/>
            <a:cxnLst/>
            <a:rect r="r" b="b" t="t" l="l"/>
            <a:pathLst>
              <a:path h="295546" w="1428750">
                <a:moveTo>
                  <a:pt x="0" y="0"/>
                </a:moveTo>
                <a:lnTo>
                  <a:pt x="1428750" y="0"/>
                </a:lnTo>
                <a:lnTo>
                  <a:pt x="1428750" y="295546"/>
                </a:lnTo>
                <a:lnTo>
                  <a:pt x="0" y="29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5023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78000" y="8491279"/>
            <a:ext cx="10506879" cy="1795721"/>
          </a:xfrm>
          <a:custGeom>
            <a:avLst/>
            <a:gdLst/>
            <a:ahLst/>
            <a:cxnLst/>
            <a:rect r="r" b="b" t="t" l="l"/>
            <a:pathLst>
              <a:path h="1795721" w="10506879">
                <a:moveTo>
                  <a:pt x="0" y="0"/>
                </a:moveTo>
                <a:lnTo>
                  <a:pt x="10506879" y="0"/>
                </a:lnTo>
                <a:lnTo>
                  <a:pt x="10506879" y="1795721"/>
                </a:lnTo>
                <a:lnTo>
                  <a:pt x="0" y="1795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55003" y="4245639"/>
            <a:ext cx="10506879" cy="1795721"/>
          </a:xfrm>
          <a:custGeom>
            <a:avLst/>
            <a:gdLst/>
            <a:ahLst/>
            <a:cxnLst/>
            <a:rect r="r" b="b" t="t" l="l"/>
            <a:pathLst>
              <a:path h="1795721" w="10506879">
                <a:moveTo>
                  <a:pt x="0" y="0"/>
                </a:moveTo>
                <a:lnTo>
                  <a:pt x="10506879" y="0"/>
                </a:lnTo>
                <a:lnTo>
                  <a:pt x="10506879" y="1795722"/>
                </a:lnTo>
                <a:lnTo>
                  <a:pt x="0" y="1795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9913" y="3557948"/>
            <a:ext cx="713119" cy="645697"/>
          </a:xfrm>
          <a:custGeom>
            <a:avLst/>
            <a:gdLst/>
            <a:ahLst/>
            <a:cxnLst/>
            <a:rect r="r" b="b" t="t" l="l"/>
            <a:pathLst>
              <a:path h="645697" w="713119">
                <a:moveTo>
                  <a:pt x="0" y="0"/>
                </a:moveTo>
                <a:lnTo>
                  <a:pt x="713119" y="0"/>
                </a:lnTo>
                <a:lnTo>
                  <a:pt x="713119" y="645697"/>
                </a:lnTo>
                <a:lnTo>
                  <a:pt x="0" y="64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69054" y="1028700"/>
            <a:ext cx="549891" cy="793806"/>
          </a:xfrm>
          <a:custGeom>
            <a:avLst/>
            <a:gdLst/>
            <a:ahLst/>
            <a:cxnLst/>
            <a:rect r="r" b="b" t="t" l="l"/>
            <a:pathLst>
              <a:path h="793806" w="549891">
                <a:moveTo>
                  <a:pt x="0" y="0"/>
                </a:moveTo>
                <a:lnTo>
                  <a:pt x="549892" y="0"/>
                </a:lnTo>
                <a:lnTo>
                  <a:pt x="549892" y="793806"/>
                </a:lnTo>
                <a:lnTo>
                  <a:pt x="0" y="793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9306" y="5571121"/>
            <a:ext cx="734257" cy="568715"/>
          </a:xfrm>
          <a:custGeom>
            <a:avLst/>
            <a:gdLst/>
            <a:ahLst/>
            <a:cxnLst/>
            <a:rect r="r" b="b" t="t" l="l"/>
            <a:pathLst>
              <a:path h="568715" w="734257">
                <a:moveTo>
                  <a:pt x="0" y="0"/>
                </a:moveTo>
                <a:lnTo>
                  <a:pt x="734257" y="0"/>
                </a:lnTo>
                <a:lnTo>
                  <a:pt x="734257" y="568715"/>
                </a:lnTo>
                <a:lnTo>
                  <a:pt x="0" y="5687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85685" y="8199376"/>
            <a:ext cx="499172" cy="525948"/>
          </a:xfrm>
          <a:custGeom>
            <a:avLst/>
            <a:gdLst/>
            <a:ahLst/>
            <a:cxnLst/>
            <a:rect r="r" b="b" t="t" l="l"/>
            <a:pathLst>
              <a:path h="525948" w="499172">
                <a:moveTo>
                  <a:pt x="0" y="0"/>
                </a:moveTo>
                <a:lnTo>
                  <a:pt x="499173" y="0"/>
                </a:lnTo>
                <a:lnTo>
                  <a:pt x="499173" y="525948"/>
                </a:lnTo>
                <a:lnTo>
                  <a:pt x="0" y="5259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9306" y="6211651"/>
            <a:ext cx="2891763" cy="13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Arquitectura modular, Unity, C#, integración y mantenimiento.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 rot="0">
            <a:off x="4042760" y="6786257"/>
            <a:ext cx="2491075" cy="0"/>
          </a:xfrm>
          <a:prstGeom prst="line">
            <a:avLst/>
          </a:prstGeom>
          <a:ln cap="flat" w="28575">
            <a:solidFill>
              <a:srgbClr val="FFDE5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473032" y="479378"/>
            <a:ext cx="1786268" cy="295546"/>
          </a:xfrm>
          <a:custGeom>
            <a:avLst/>
            <a:gdLst/>
            <a:ahLst/>
            <a:cxnLst/>
            <a:rect r="r" b="b" t="t" l="l"/>
            <a:pathLst>
              <a:path h="295546" w="1786268">
                <a:moveTo>
                  <a:pt x="0" y="0"/>
                </a:moveTo>
                <a:lnTo>
                  <a:pt x="1786268" y="0"/>
                </a:lnTo>
                <a:lnTo>
                  <a:pt x="1786268" y="295546"/>
                </a:lnTo>
                <a:lnTo>
                  <a:pt x="0" y="295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42760" y="3361966"/>
            <a:ext cx="9962440" cy="4418310"/>
          </a:xfrm>
          <a:custGeom>
            <a:avLst/>
            <a:gdLst/>
            <a:ahLst/>
            <a:cxnLst/>
            <a:rect r="r" b="b" t="t" l="l"/>
            <a:pathLst>
              <a:path h="4418310" w="9962440">
                <a:moveTo>
                  <a:pt x="0" y="0"/>
                </a:moveTo>
                <a:lnTo>
                  <a:pt x="9962440" y="0"/>
                </a:lnTo>
                <a:lnTo>
                  <a:pt x="9962440" y="4418310"/>
                </a:lnTo>
                <a:lnTo>
                  <a:pt x="0" y="44183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69054" y="1936154"/>
            <a:ext cx="5030058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Scrum, planificación, riesgos y seguimiento.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920284" y="4298793"/>
            <a:ext cx="3128380" cy="13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Agentes, Nexos, programas, recursos, estados y progreso.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385685" y="8831677"/>
            <a:ext cx="4603933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Pruebas funcionales, integración, playtests y mejoras.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650738" y="1437855"/>
            <a:ext cx="4536203" cy="38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GESTIÓN DE PROYECTOS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94397" y="3491273"/>
            <a:ext cx="2454267" cy="75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MODELOS DE DATOS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26786" y="8132701"/>
            <a:ext cx="3774241" cy="75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CALIDAD Y CERTIFICACIÓN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504446"/>
            <a:ext cx="3222312" cy="75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DESARROLLO DE SOFTWARE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9150" y="885825"/>
            <a:ext cx="6784485" cy="18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2"/>
              </a:lnSpc>
              <a:spcBef>
                <a:spcPct val="0"/>
              </a:spcBef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COMPETENCIAS APLICADAS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27242" y="703535"/>
            <a:ext cx="9233516" cy="91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2"/>
              </a:lnSpc>
              <a:spcBef>
                <a:spcPct val="0"/>
              </a:spcBef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NUESTRO EQUIPO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21391" y="937555"/>
            <a:ext cx="593181" cy="593181"/>
          </a:xfrm>
          <a:custGeom>
            <a:avLst/>
            <a:gdLst/>
            <a:ahLst/>
            <a:cxnLst/>
            <a:rect r="r" b="b" t="t" l="l"/>
            <a:pathLst>
              <a:path h="593181" w="593181">
                <a:moveTo>
                  <a:pt x="0" y="0"/>
                </a:moveTo>
                <a:lnTo>
                  <a:pt x="593181" y="0"/>
                </a:lnTo>
                <a:lnTo>
                  <a:pt x="593181" y="593181"/>
                </a:lnTo>
                <a:lnTo>
                  <a:pt x="0" y="593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34061" y="937555"/>
            <a:ext cx="593181" cy="593181"/>
          </a:xfrm>
          <a:custGeom>
            <a:avLst/>
            <a:gdLst/>
            <a:ahLst/>
            <a:cxnLst/>
            <a:rect r="r" b="b" t="t" l="l"/>
            <a:pathLst>
              <a:path h="593181" w="593181">
                <a:moveTo>
                  <a:pt x="0" y="0"/>
                </a:moveTo>
                <a:lnTo>
                  <a:pt x="593181" y="0"/>
                </a:lnTo>
                <a:lnTo>
                  <a:pt x="593181" y="593181"/>
                </a:lnTo>
                <a:lnTo>
                  <a:pt x="0" y="593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30550" y="479378"/>
            <a:ext cx="1428750" cy="295546"/>
          </a:xfrm>
          <a:custGeom>
            <a:avLst/>
            <a:gdLst/>
            <a:ahLst/>
            <a:cxnLst/>
            <a:rect r="r" b="b" t="t" l="l"/>
            <a:pathLst>
              <a:path h="295546" w="1428750">
                <a:moveTo>
                  <a:pt x="0" y="0"/>
                </a:moveTo>
                <a:lnTo>
                  <a:pt x="1428750" y="0"/>
                </a:lnTo>
                <a:lnTo>
                  <a:pt x="1428750" y="295546"/>
                </a:lnTo>
                <a:lnTo>
                  <a:pt x="0" y="29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5023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4409" y="3920111"/>
            <a:ext cx="6310549" cy="5272966"/>
          </a:xfrm>
          <a:custGeom>
            <a:avLst/>
            <a:gdLst/>
            <a:ahLst/>
            <a:cxnLst/>
            <a:rect r="r" b="b" t="t" l="l"/>
            <a:pathLst>
              <a:path h="5272966" w="6310549">
                <a:moveTo>
                  <a:pt x="0" y="0"/>
                </a:moveTo>
                <a:lnTo>
                  <a:pt x="6310549" y="0"/>
                </a:lnTo>
                <a:lnTo>
                  <a:pt x="6310549" y="5272965"/>
                </a:lnTo>
                <a:lnTo>
                  <a:pt x="0" y="52729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07750" y="4015361"/>
            <a:ext cx="4888327" cy="4888327"/>
          </a:xfrm>
          <a:custGeom>
            <a:avLst/>
            <a:gdLst/>
            <a:ahLst/>
            <a:cxnLst/>
            <a:rect r="r" b="b" t="t" l="l"/>
            <a:pathLst>
              <a:path h="4888327" w="4888327">
                <a:moveTo>
                  <a:pt x="0" y="0"/>
                </a:moveTo>
                <a:lnTo>
                  <a:pt x="4888327" y="0"/>
                </a:lnTo>
                <a:lnTo>
                  <a:pt x="4888327" y="4888327"/>
                </a:lnTo>
                <a:lnTo>
                  <a:pt x="0" y="48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16229" y="3163985"/>
            <a:ext cx="3471369" cy="75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JEFE DE PROYECTO</a:t>
            </a:r>
          </a:p>
          <a:p>
            <a:pPr algn="ctr">
              <a:lnSpc>
                <a:spcPts val="294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416229" y="2749477"/>
            <a:ext cx="3319143" cy="38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ÁLVARO CASTRO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4409" y="3067454"/>
            <a:ext cx="5925667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"/>
              </a:lnSpc>
            </a:pPr>
            <a:r>
              <a:rPr lang="en-US" sz="21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LÍDER TÉCNICO Y DESARROLLADOR PRINCIPAL</a:t>
            </a:r>
          </a:p>
          <a:p>
            <a:pPr algn="ctr">
              <a:lnSpc>
                <a:spcPts val="294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563001" y="2749477"/>
            <a:ext cx="3928481" cy="38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ÁNGEL ROJAS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831561" y="6738348"/>
            <a:ext cx="1421738" cy="161561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5588153" y="1854739"/>
            <a:ext cx="1671147" cy="193544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-7765" y="501022"/>
            <a:ext cx="7992449" cy="18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32"/>
              </a:lnSpc>
              <a:spcBef>
                <a:spcPct val="0"/>
              </a:spcBef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FACTIBILIDAD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39195" y="6563105"/>
            <a:ext cx="6204745" cy="272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2"/>
              </a:lnSpc>
              <a:spcBef>
                <a:spcPct val="0"/>
              </a:spcBef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RIESGOS Y MITIGACIÓN</a:t>
            </a:r>
          </a:p>
          <a:p>
            <a:pPr algn="l">
              <a:lnSpc>
                <a:spcPts val="713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728879" y="6681198"/>
            <a:ext cx="8952686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Intérprete y lenguaje: prototipo temprano y pruebas aisladas.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egración de sistemas: arquitectura modular.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sabi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lidad: mockups y playtests.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Rendimiento: simulación separada de la capa visual.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Alcance: priorización continua del backlog.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30550" y="479378"/>
            <a:ext cx="1428750" cy="295546"/>
          </a:xfrm>
          <a:custGeom>
            <a:avLst/>
            <a:gdLst/>
            <a:ahLst/>
            <a:cxnLst/>
            <a:rect r="r" b="b" t="t" l="l"/>
            <a:pathLst>
              <a:path h="295546" w="1428750">
                <a:moveTo>
                  <a:pt x="0" y="0"/>
                </a:moveTo>
                <a:lnTo>
                  <a:pt x="1428750" y="0"/>
                </a:lnTo>
                <a:lnTo>
                  <a:pt x="1428750" y="295546"/>
                </a:lnTo>
                <a:lnTo>
                  <a:pt x="0" y="29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5023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778000" y="8491279"/>
            <a:ext cx="10506879" cy="1795721"/>
          </a:xfrm>
          <a:custGeom>
            <a:avLst/>
            <a:gdLst/>
            <a:ahLst/>
            <a:cxnLst/>
            <a:rect r="r" b="b" t="t" l="l"/>
            <a:pathLst>
              <a:path h="1795721" w="10506879">
                <a:moveTo>
                  <a:pt x="0" y="0"/>
                </a:moveTo>
                <a:lnTo>
                  <a:pt x="10506879" y="0"/>
                </a:lnTo>
                <a:lnTo>
                  <a:pt x="10506879" y="1795721"/>
                </a:lnTo>
                <a:lnTo>
                  <a:pt x="0" y="1795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55003" y="4245639"/>
            <a:ext cx="10506879" cy="1795721"/>
          </a:xfrm>
          <a:custGeom>
            <a:avLst/>
            <a:gdLst/>
            <a:ahLst/>
            <a:cxnLst/>
            <a:rect r="r" b="b" t="t" l="l"/>
            <a:pathLst>
              <a:path h="1795721" w="10506879">
                <a:moveTo>
                  <a:pt x="0" y="0"/>
                </a:moveTo>
                <a:lnTo>
                  <a:pt x="10506879" y="0"/>
                </a:lnTo>
                <a:lnTo>
                  <a:pt x="10506879" y="1795722"/>
                </a:lnTo>
                <a:lnTo>
                  <a:pt x="0" y="1795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306614" y="1426411"/>
            <a:ext cx="7523936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Alcance incremental y MVP definido.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oles y responsabilidades claros.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Tecnologías conocidas: Unity y C#.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rollo con Scrum y repositorio.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visual minimalista para reducir producción artística.</a:t>
            </a:r>
          </a:p>
          <a:p>
            <a:pPr algn="l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72555" y="479378"/>
            <a:ext cx="686745" cy="291256"/>
          </a:xfrm>
          <a:custGeom>
            <a:avLst/>
            <a:gdLst/>
            <a:ahLst/>
            <a:cxnLst/>
            <a:rect r="r" b="b" t="t" l="l"/>
            <a:pathLst>
              <a:path h="291256" w="686745">
                <a:moveTo>
                  <a:pt x="0" y="0"/>
                </a:moveTo>
                <a:lnTo>
                  <a:pt x="686745" y="0"/>
                </a:lnTo>
                <a:lnTo>
                  <a:pt x="686745" y="291256"/>
                </a:lnTo>
                <a:lnTo>
                  <a:pt x="0" y="291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0106" t="0" r="0" b="-14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66612" y="7282917"/>
            <a:ext cx="843181" cy="1435757"/>
          </a:xfrm>
          <a:custGeom>
            <a:avLst/>
            <a:gdLst/>
            <a:ahLst/>
            <a:cxnLst/>
            <a:rect r="r" b="b" t="t" l="l"/>
            <a:pathLst>
              <a:path h="1435757" w="843181">
                <a:moveTo>
                  <a:pt x="0" y="0"/>
                </a:moveTo>
                <a:lnTo>
                  <a:pt x="843181" y="0"/>
                </a:lnTo>
                <a:lnTo>
                  <a:pt x="843181" y="1435757"/>
                </a:lnTo>
                <a:lnTo>
                  <a:pt x="0" y="1435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2462" y="7696837"/>
            <a:ext cx="600097" cy="1021838"/>
          </a:xfrm>
          <a:custGeom>
            <a:avLst/>
            <a:gdLst/>
            <a:ahLst/>
            <a:cxnLst/>
            <a:rect r="r" b="b" t="t" l="l"/>
            <a:pathLst>
              <a:path h="1021838" w="600097">
                <a:moveTo>
                  <a:pt x="0" y="0"/>
                </a:moveTo>
                <a:lnTo>
                  <a:pt x="600098" y="0"/>
                </a:lnTo>
                <a:lnTo>
                  <a:pt x="600098" y="1021837"/>
                </a:lnTo>
                <a:lnTo>
                  <a:pt x="0" y="10218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464283" y="8823449"/>
            <a:ext cx="21372017" cy="1426963"/>
            <a:chOff x="0" y="0"/>
            <a:chExt cx="28496023" cy="19026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32334" cy="1902617"/>
            </a:xfrm>
            <a:custGeom>
              <a:avLst/>
              <a:gdLst/>
              <a:ahLst/>
              <a:cxnLst/>
              <a:rect r="r" b="b" t="t" l="l"/>
              <a:pathLst>
                <a:path h="1902617" w="11132334">
                  <a:moveTo>
                    <a:pt x="0" y="0"/>
                  </a:moveTo>
                  <a:lnTo>
                    <a:pt x="11132334" y="0"/>
                  </a:lnTo>
                  <a:lnTo>
                    <a:pt x="11132334" y="1902617"/>
                  </a:lnTo>
                  <a:lnTo>
                    <a:pt x="0" y="1902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0157491" y="0"/>
              <a:ext cx="11132334" cy="1902617"/>
            </a:xfrm>
            <a:custGeom>
              <a:avLst/>
              <a:gdLst/>
              <a:ahLst/>
              <a:cxnLst/>
              <a:rect r="r" b="b" t="t" l="l"/>
              <a:pathLst>
                <a:path h="1902617" w="11132334">
                  <a:moveTo>
                    <a:pt x="0" y="0"/>
                  </a:moveTo>
                  <a:lnTo>
                    <a:pt x="11132334" y="0"/>
                  </a:lnTo>
                  <a:lnTo>
                    <a:pt x="11132334" y="1902617"/>
                  </a:lnTo>
                  <a:lnTo>
                    <a:pt x="0" y="1902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363689" y="0"/>
              <a:ext cx="11132334" cy="1902617"/>
            </a:xfrm>
            <a:custGeom>
              <a:avLst/>
              <a:gdLst/>
              <a:ahLst/>
              <a:cxnLst/>
              <a:rect r="r" b="b" t="t" l="l"/>
              <a:pathLst>
                <a:path h="1902617" w="11132334">
                  <a:moveTo>
                    <a:pt x="0" y="0"/>
                  </a:moveTo>
                  <a:lnTo>
                    <a:pt x="11132334" y="0"/>
                  </a:lnTo>
                  <a:lnTo>
                    <a:pt x="11132334" y="1902617"/>
                  </a:lnTo>
                  <a:lnTo>
                    <a:pt x="0" y="1902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905183" y="5143500"/>
            <a:ext cx="2451779" cy="1564384"/>
          </a:xfrm>
          <a:custGeom>
            <a:avLst/>
            <a:gdLst/>
            <a:ahLst/>
            <a:cxnLst/>
            <a:rect r="r" b="b" t="t" l="l"/>
            <a:pathLst>
              <a:path h="1564384" w="2451779">
                <a:moveTo>
                  <a:pt x="0" y="0"/>
                </a:moveTo>
                <a:lnTo>
                  <a:pt x="2451779" y="0"/>
                </a:lnTo>
                <a:lnTo>
                  <a:pt x="2451779" y="1564384"/>
                </a:lnTo>
                <a:lnTo>
                  <a:pt x="0" y="1564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561" t="0" r="-25877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82392" y="5397500"/>
            <a:ext cx="2451779" cy="1564384"/>
          </a:xfrm>
          <a:custGeom>
            <a:avLst/>
            <a:gdLst/>
            <a:ahLst/>
            <a:cxnLst/>
            <a:rect r="r" b="b" t="t" l="l"/>
            <a:pathLst>
              <a:path h="1564384" w="2451779">
                <a:moveTo>
                  <a:pt x="0" y="0"/>
                </a:moveTo>
                <a:lnTo>
                  <a:pt x="2451779" y="0"/>
                </a:lnTo>
                <a:lnTo>
                  <a:pt x="2451779" y="1564384"/>
                </a:lnTo>
                <a:lnTo>
                  <a:pt x="0" y="1564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561" t="0" r="-25877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6423" y="4842365"/>
            <a:ext cx="2451779" cy="1564384"/>
          </a:xfrm>
          <a:custGeom>
            <a:avLst/>
            <a:gdLst/>
            <a:ahLst/>
            <a:cxnLst/>
            <a:rect r="r" b="b" t="t" l="l"/>
            <a:pathLst>
              <a:path h="1564384" w="2451779">
                <a:moveTo>
                  <a:pt x="0" y="0"/>
                </a:moveTo>
                <a:lnTo>
                  <a:pt x="2451780" y="0"/>
                </a:lnTo>
                <a:lnTo>
                  <a:pt x="2451780" y="1564384"/>
                </a:lnTo>
                <a:lnTo>
                  <a:pt x="0" y="1564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561" t="0" r="-25877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946186" y="2771834"/>
            <a:ext cx="2369773" cy="1566111"/>
          </a:xfrm>
          <a:custGeom>
            <a:avLst/>
            <a:gdLst/>
            <a:ahLst/>
            <a:cxnLst/>
            <a:rect r="r" b="b" t="t" l="l"/>
            <a:pathLst>
              <a:path h="1566111" w="2369773">
                <a:moveTo>
                  <a:pt x="0" y="0"/>
                </a:moveTo>
                <a:lnTo>
                  <a:pt x="2369773" y="0"/>
                </a:lnTo>
                <a:lnTo>
                  <a:pt x="2369773" y="1566111"/>
                </a:lnTo>
                <a:lnTo>
                  <a:pt x="0" y="15661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382392" y="2617003"/>
            <a:ext cx="2390649" cy="2359194"/>
          </a:xfrm>
          <a:custGeom>
            <a:avLst/>
            <a:gdLst/>
            <a:ahLst/>
            <a:cxnLst/>
            <a:rect r="r" b="b" t="t" l="l"/>
            <a:pathLst>
              <a:path h="2359194" w="2390649">
                <a:moveTo>
                  <a:pt x="0" y="0"/>
                </a:moveTo>
                <a:lnTo>
                  <a:pt x="2390649" y="0"/>
                </a:lnTo>
                <a:lnTo>
                  <a:pt x="2390649" y="2359193"/>
                </a:lnTo>
                <a:lnTo>
                  <a:pt x="0" y="23591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90671" y="1168749"/>
            <a:ext cx="3045046" cy="2896507"/>
          </a:xfrm>
          <a:custGeom>
            <a:avLst/>
            <a:gdLst/>
            <a:ahLst/>
            <a:cxnLst/>
            <a:rect r="r" b="b" t="t" l="l"/>
            <a:pathLst>
              <a:path h="2896507" w="3045046">
                <a:moveTo>
                  <a:pt x="0" y="0"/>
                </a:moveTo>
                <a:lnTo>
                  <a:pt x="3045046" y="0"/>
                </a:lnTo>
                <a:lnTo>
                  <a:pt x="3045046" y="2896507"/>
                </a:lnTo>
                <a:lnTo>
                  <a:pt x="0" y="28965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885825"/>
            <a:ext cx="6204745" cy="18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2"/>
              </a:lnSpc>
              <a:spcBef>
                <a:spcPct val="0"/>
              </a:spcBef>
            </a:pPr>
            <a:r>
              <a:rPr lang="en-US" sz="5094">
                <a:solidFill>
                  <a:srgbClr val="FFDE59"/>
                </a:solidFill>
                <a:latin typeface="Arcade Gamer"/>
                <a:ea typeface="Arcade Gamer"/>
                <a:cs typeface="Arcade Gamer"/>
                <a:sym typeface="Arcade Gamer"/>
              </a:rPr>
              <a:t>CALIDAD Y VALIDACIÓN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30708" y="4518751"/>
            <a:ext cx="2285251" cy="36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1"/>
              </a:lnSpc>
              <a:spcBef>
                <a:spcPct val="0"/>
              </a:spcBef>
            </a:pPr>
            <a:r>
              <a:rPr lang="en-US" b="true" sz="20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PLANIFICAR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57165" y="4785215"/>
            <a:ext cx="3241103" cy="36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1"/>
              </a:lnSpc>
              <a:spcBef>
                <a:spcPct val="0"/>
              </a:spcBef>
            </a:pPr>
            <a:r>
              <a:rPr lang="en-US" b="true" sz="20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VALIDAR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11768" y="4125963"/>
            <a:ext cx="2002853" cy="36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1"/>
              </a:lnSpc>
              <a:spcBef>
                <a:spcPct val="0"/>
              </a:spcBef>
            </a:pPr>
            <a:r>
              <a:rPr lang="en-US" b="true" sz="20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MEJORAR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7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6370195" y="2689247"/>
            <a:ext cx="5547610" cy="18618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DAHUFgvtOjs</dc:identifier>
  <dcterms:modified xsi:type="dcterms:W3CDTF">2011-08-01T06:04:30Z</dcterms:modified>
  <cp:revision>1</cp:revision>
  <dc:title>Presentación Empresa Negocio Retro Game</dc:title>
</cp:coreProperties>
</file>